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329" r:id="rId2"/>
    <p:sldId id="323" r:id="rId3"/>
    <p:sldId id="277" r:id="rId4"/>
    <p:sldId id="330" r:id="rId5"/>
    <p:sldId id="297" r:id="rId6"/>
    <p:sldId id="331" r:id="rId7"/>
    <p:sldId id="314" r:id="rId8"/>
    <p:sldId id="315" r:id="rId9"/>
    <p:sldId id="316" r:id="rId10"/>
    <p:sldId id="317" r:id="rId11"/>
  </p:sldIdLst>
  <p:sldSz cx="9144000" cy="5143500" type="screen16x9"/>
  <p:notesSz cx="6797675" cy="9928225"/>
  <p:embeddedFontLs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Medium" panose="000006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1" roundtripDataSignature="AMtx7mjqChpL3kWnyUgMNto91TKBA2lx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6" autoAdjust="0"/>
    <p:restoredTop sz="91690" autoAdjust="0"/>
  </p:normalViewPr>
  <p:slideViewPr>
    <p:cSldViewPr snapToGrid="0" showGuides="1">
      <p:cViewPr varScale="1">
        <p:scale>
          <a:sx n="137" d="100"/>
          <a:sy n="137" d="100"/>
        </p:scale>
        <p:origin x="1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9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9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40" name="Google Shape;640;p57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355" name="Google Shape;1355;p72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0C9D5-E6A8-0411-9473-E4A3C1D21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6A6E2-299D-D3E5-55B7-A6125EA27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F4B58-FA85-A21C-4E38-DFC9F5C68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51EE0-98C7-1C1A-63A1-7F4469202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0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A7D8E-9087-B2C1-7AAA-43F84970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09182-3687-3EAE-221D-A82B0A1FE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4B5AB-5DA2-CE6B-2FC5-2CB3E18D3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9FD56-E85A-308D-D8A7-339B5ABED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17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29DB3-7246-091F-D603-516E6435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6C211-A7BD-08D5-E1E6-B514958A2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62AD4-51D6-2937-22C2-F8EEDF44B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A6131-F50D-FA23-FC87-8A4CED1981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503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C155-BF15-08E0-2DBA-A374AC1F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3500F-C621-E8DB-88E5-44E757F6E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758CC-3B80-26FA-1AEC-52139E8E9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E8E46-FA0E-C74E-F860-34E18BEB6D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92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-text">
  <p:cSld name="Text_no_log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Poppins"/>
              <a:buNone/>
              <a:defRPr sz="2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81"/>
          <p:cNvSpPr txBox="1">
            <a:spLocks noGrp="1"/>
          </p:cNvSpPr>
          <p:nvPr>
            <p:ph type="body" idx="1"/>
          </p:nvPr>
        </p:nvSpPr>
        <p:spPr>
          <a:xfrm>
            <a:off x="298449" y="1148715"/>
            <a:ext cx="8537575" cy="33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8956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–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ourier New"/>
              <a:buChar char="o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▪"/>
              <a:defRPr/>
            </a:lvl4pPr>
            <a:lvl5pPr marL="2286000" lvl="4" indent="-28956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"/>
              <a:buFont typeface="Noto Sans Symbols"/>
              <a:buChar char="❑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81"/>
          <p:cNvSpPr txBox="1">
            <a:spLocks noGrp="1"/>
          </p:cNvSpPr>
          <p:nvPr>
            <p:ph type="body" idx="2"/>
          </p:nvPr>
        </p:nvSpPr>
        <p:spPr>
          <a:xfrm>
            <a:off x="311700" y="226129"/>
            <a:ext cx="3359666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sldNum" idx="12"/>
          </p:nvPr>
        </p:nvSpPr>
        <p:spPr>
          <a:xfrm>
            <a:off x="8387184" y="4871050"/>
            <a:ext cx="44884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Blank 3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>
            <a:spLocks noGrp="1"/>
          </p:cNvSpPr>
          <p:nvPr>
            <p:ph type="body" idx="1"/>
          </p:nvPr>
        </p:nvSpPr>
        <p:spPr>
          <a:xfrm>
            <a:off x="8349095" y="4842156"/>
            <a:ext cx="486929" cy="212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lt2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-text" preserve="1">
  <p:cSld name="Industry slide">
    <p:bg>
      <p:bgPr>
        <a:solidFill>
          <a:schemeClr val="tx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111FF0E9-F450-8AE1-75F1-9B58A7FA9EDD}"/>
              </a:ext>
            </a:extLst>
          </p:cNvPr>
          <p:cNvSpPr/>
          <p:nvPr userDrawn="1"/>
        </p:nvSpPr>
        <p:spPr>
          <a:xfrm>
            <a:off x="0" y="0"/>
            <a:ext cx="28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Google Shape;57;p34"/>
          <p:cNvSpPr txBox="1">
            <a:spLocks noGrp="1"/>
          </p:cNvSpPr>
          <p:nvPr>
            <p:ph type="title"/>
          </p:nvPr>
        </p:nvSpPr>
        <p:spPr>
          <a:xfrm>
            <a:off x="311700" y="795545"/>
            <a:ext cx="24752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Poppins"/>
              <a:buNone/>
              <a:defRPr sz="2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58" name="Google Shape;58;p34"/>
          <p:cNvSpPr txBox="1">
            <a:spLocks noGrp="1"/>
          </p:cNvSpPr>
          <p:nvPr>
            <p:ph type="body" idx="1"/>
          </p:nvPr>
        </p:nvSpPr>
        <p:spPr>
          <a:xfrm>
            <a:off x="307975" y="1691975"/>
            <a:ext cx="2465705" cy="305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8956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–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ourier New"/>
              <a:buChar char="o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Char char="▪"/>
              <a:defRPr/>
            </a:lvl4pPr>
            <a:lvl5pPr marL="2286000" lvl="4" indent="-28956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"/>
              <a:buFont typeface="Noto Sans Symbols"/>
              <a:buChar char="❑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 dirty="0"/>
          </a:p>
        </p:txBody>
      </p:sp>
      <p:sp>
        <p:nvSpPr>
          <p:cNvPr id="59" name="Google Shape;59;p34"/>
          <p:cNvSpPr txBox="1">
            <a:spLocks noGrp="1"/>
          </p:cNvSpPr>
          <p:nvPr>
            <p:ph type="body" idx="2"/>
          </p:nvPr>
        </p:nvSpPr>
        <p:spPr>
          <a:xfrm>
            <a:off x="311700" y="226128"/>
            <a:ext cx="2475231" cy="17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9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 dirty="0"/>
          </a:p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8387184" y="4871050"/>
            <a:ext cx="44884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1725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Content - Column">
  <p:cSld name="5_Content - Column">
    <p:bg>
      <p:bgPr>
        <a:solidFill>
          <a:srgbClr val="E5EAF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8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10300" y="3157850"/>
            <a:ext cx="29337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8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8289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4"/>
          <p:cNvSpPr>
            <a:spLocks noGrp="1"/>
          </p:cNvSpPr>
          <p:nvPr>
            <p:ph type="pic" idx="2"/>
          </p:nvPr>
        </p:nvSpPr>
        <p:spPr>
          <a:xfrm>
            <a:off x="6216475" y="1310000"/>
            <a:ext cx="1802100" cy="1116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3" name="Google Shape;143;p84"/>
          <p:cNvSpPr>
            <a:spLocks noGrp="1"/>
          </p:cNvSpPr>
          <p:nvPr>
            <p:ph type="pic" idx="3"/>
          </p:nvPr>
        </p:nvSpPr>
        <p:spPr>
          <a:xfrm>
            <a:off x="3421075" y="1310000"/>
            <a:ext cx="1802100" cy="1116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4" name="Google Shape;144;p84"/>
          <p:cNvSpPr>
            <a:spLocks noGrp="1"/>
          </p:cNvSpPr>
          <p:nvPr>
            <p:ph type="pic" idx="4"/>
          </p:nvPr>
        </p:nvSpPr>
        <p:spPr>
          <a:xfrm>
            <a:off x="625675" y="1310000"/>
            <a:ext cx="1802100" cy="11166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5" name="Google Shape;145;p84"/>
          <p:cNvSpPr txBox="1">
            <a:spLocks noGrp="1"/>
          </p:cNvSpPr>
          <p:nvPr>
            <p:ph type="body" idx="1"/>
          </p:nvPr>
        </p:nvSpPr>
        <p:spPr>
          <a:xfrm>
            <a:off x="416938" y="3044988"/>
            <a:ext cx="2215800" cy="12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46" name="Google Shape;146;p84"/>
          <p:cNvSpPr txBox="1">
            <a:spLocks noGrp="1"/>
          </p:cNvSpPr>
          <p:nvPr>
            <p:ph type="title"/>
          </p:nvPr>
        </p:nvSpPr>
        <p:spPr>
          <a:xfrm>
            <a:off x="388825" y="445025"/>
            <a:ext cx="55749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Poppins"/>
              <a:buNone/>
              <a:defRPr sz="20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oppins Medium"/>
              <a:buNone/>
              <a:defRPr sz="210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oppins Medium"/>
              <a:buNone/>
              <a:defRPr sz="210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oppins Medium"/>
              <a:buNone/>
              <a:defRPr sz="210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oppins Medium"/>
              <a:buNone/>
              <a:defRPr sz="210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oppins Medium"/>
              <a:buNone/>
              <a:defRPr sz="210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oppins Medium"/>
              <a:buNone/>
              <a:defRPr sz="210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oppins Medium"/>
              <a:buNone/>
              <a:defRPr sz="210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Poppins Medium"/>
              <a:buNone/>
              <a:defRPr sz="2100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147" name="Google Shape;147;p84"/>
          <p:cNvSpPr txBox="1">
            <a:spLocks noGrp="1"/>
          </p:cNvSpPr>
          <p:nvPr>
            <p:ph type="title" idx="5"/>
          </p:nvPr>
        </p:nvSpPr>
        <p:spPr>
          <a:xfrm>
            <a:off x="416950" y="2627175"/>
            <a:ext cx="221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8" name="Google Shape;148;p84"/>
          <p:cNvSpPr txBox="1">
            <a:spLocks noGrp="1"/>
          </p:cNvSpPr>
          <p:nvPr>
            <p:ph type="body" idx="6"/>
          </p:nvPr>
        </p:nvSpPr>
        <p:spPr>
          <a:xfrm>
            <a:off x="3214213" y="3044988"/>
            <a:ext cx="2215800" cy="12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49" name="Google Shape;149;p84"/>
          <p:cNvSpPr txBox="1">
            <a:spLocks noGrp="1"/>
          </p:cNvSpPr>
          <p:nvPr>
            <p:ph type="title" idx="7"/>
          </p:nvPr>
        </p:nvSpPr>
        <p:spPr>
          <a:xfrm>
            <a:off x="3214225" y="2627239"/>
            <a:ext cx="221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150" name="Google Shape;150;p84"/>
          <p:cNvGrpSpPr/>
          <p:nvPr/>
        </p:nvGrpSpPr>
        <p:grpSpPr>
          <a:xfrm>
            <a:off x="8050264" y="4591333"/>
            <a:ext cx="704919" cy="152235"/>
            <a:chOff x="4489451" y="3203575"/>
            <a:chExt cx="3521075" cy="760412"/>
          </a:xfrm>
        </p:grpSpPr>
        <p:sp>
          <p:nvSpPr>
            <p:cNvPr id="151" name="Google Shape;151;p84"/>
            <p:cNvSpPr/>
            <p:nvPr/>
          </p:nvSpPr>
          <p:spPr>
            <a:xfrm>
              <a:off x="4489451" y="3424238"/>
              <a:ext cx="484188" cy="530225"/>
            </a:xfrm>
            <a:custGeom>
              <a:avLst/>
              <a:gdLst/>
              <a:ahLst/>
              <a:cxnLst/>
              <a:rect l="l" t="t" r="r" b="b"/>
              <a:pathLst>
                <a:path w="305" h="334" extrusionOk="0">
                  <a:moveTo>
                    <a:pt x="213" y="334"/>
                  </a:moveTo>
                  <a:lnTo>
                    <a:pt x="147" y="230"/>
                  </a:lnTo>
                  <a:lnTo>
                    <a:pt x="88" y="334"/>
                  </a:lnTo>
                  <a:lnTo>
                    <a:pt x="1" y="334"/>
                  </a:lnTo>
                  <a:lnTo>
                    <a:pt x="106" y="16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157" y="103"/>
                  </a:lnTo>
                  <a:lnTo>
                    <a:pt x="216" y="0"/>
                  </a:lnTo>
                  <a:lnTo>
                    <a:pt x="304" y="0"/>
                  </a:lnTo>
                  <a:lnTo>
                    <a:pt x="198" y="166"/>
                  </a:lnTo>
                  <a:lnTo>
                    <a:pt x="305" y="334"/>
                  </a:lnTo>
                  <a:lnTo>
                    <a:pt x="213" y="3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84"/>
            <p:cNvSpPr/>
            <p:nvPr/>
          </p:nvSpPr>
          <p:spPr>
            <a:xfrm>
              <a:off x="5799138" y="3416300"/>
              <a:ext cx="846138" cy="538164"/>
            </a:xfrm>
            <a:custGeom>
              <a:avLst/>
              <a:gdLst/>
              <a:ahLst/>
              <a:cxnLst/>
              <a:rect l="l" t="t" r="r" b="b"/>
              <a:pathLst>
                <a:path w="1421" h="907" extrusionOk="0">
                  <a:moveTo>
                    <a:pt x="1324" y="100"/>
                  </a:moveTo>
                  <a:cubicBezTo>
                    <a:pt x="1388" y="168"/>
                    <a:pt x="1421" y="262"/>
                    <a:pt x="1421" y="382"/>
                  </a:cubicBezTo>
                  <a:lnTo>
                    <a:pt x="1421" y="907"/>
                  </a:lnTo>
                  <a:lnTo>
                    <a:pt x="1203" y="907"/>
                  </a:lnTo>
                  <a:lnTo>
                    <a:pt x="1203" y="413"/>
                  </a:lnTo>
                  <a:cubicBezTo>
                    <a:pt x="1203" y="343"/>
                    <a:pt x="1186" y="289"/>
                    <a:pt x="1152" y="252"/>
                  </a:cubicBezTo>
                  <a:cubicBezTo>
                    <a:pt x="1118" y="215"/>
                    <a:pt x="1071" y="196"/>
                    <a:pt x="1012" y="196"/>
                  </a:cubicBezTo>
                  <a:cubicBezTo>
                    <a:pt x="953" y="196"/>
                    <a:pt x="906" y="215"/>
                    <a:pt x="872" y="252"/>
                  </a:cubicBezTo>
                  <a:cubicBezTo>
                    <a:pt x="837" y="289"/>
                    <a:pt x="820" y="343"/>
                    <a:pt x="820" y="413"/>
                  </a:cubicBezTo>
                  <a:lnTo>
                    <a:pt x="820" y="907"/>
                  </a:lnTo>
                  <a:lnTo>
                    <a:pt x="602" y="907"/>
                  </a:lnTo>
                  <a:lnTo>
                    <a:pt x="602" y="413"/>
                  </a:lnTo>
                  <a:cubicBezTo>
                    <a:pt x="602" y="343"/>
                    <a:pt x="585" y="289"/>
                    <a:pt x="551" y="252"/>
                  </a:cubicBezTo>
                  <a:cubicBezTo>
                    <a:pt x="517" y="215"/>
                    <a:pt x="470" y="196"/>
                    <a:pt x="411" y="196"/>
                  </a:cubicBezTo>
                  <a:cubicBezTo>
                    <a:pt x="352" y="196"/>
                    <a:pt x="304" y="215"/>
                    <a:pt x="269" y="252"/>
                  </a:cubicBezTo>
                  <a:cubicBezTo>
                    <a:pt x="234" y="289"/>
                    <a:pt x="217" y="343"/>
                    <a:pt x="217" y="413"/>
                  </a:cubicBezTo>
                  <a:lnTo>
                    <a:pt x="217" y="907"/>
                  </a:lnTo>
                  <a:lnTo>
                    <a:pt x="0" y="907"/>
                  </a:lnTo>
                  <a:lnTo>
                    <a:pt x="0" y="13"/>
                  </a:lnTo>
                  <a:lnTo>
                    <a:pt x="217" y="13"/>
                  </a:lnTo>
                  <a:lnTo>
                    <a:pt x="217" y="121"/>
                  </a:lnTo>
                  <a:cubicBezTo>
                    <a:pt x="245" y="83"/>
                    <a:pt x="281" y="54"/>
                    <a:pt x="325" y="32"/>
                  </a:cubicBezTo>
                  <a:cubicBezTo>
                    <a:pt x="369" y="11"/>
                    <a:pt x="417" y="0"/>
                    <a:pt x="470" y="0"/>
                  </a:cubicBezTo>
                  <a:cubicBezTo>
                    <a:pt x="537" y="0"/>
                    <a:pt x="597" y="14"/>
                    <a:pt x="650" y="44"/>
                  </a:cubicBezTo>
                  <a:cubicBezTo>
                    <a:pt x="703" y="74"/>
                    <a:pt x="744" y="116"/>
                    <a:pt x="773" y="171"/>
                  </a:cubicBezTo>
                  <a:cubicBezTo>
                    <a:pt x="801" y="119"/>
                    <a:pt x="841" y="78"/>
                    <a:pt x="895" y="46"/>
                  </a:cubicBezTo>
                  <a:cubicBezTo>
                    <a:pt x="948" y="15"/>
                    <a:pt x="1006" y="0"/>
                    <a:pt x="1068" y="0"/>
                  </a:cubicBezTo>
                  <a:cubicBezTo>
                    <a:pt x="1173" y="0"/>
                    <a:pt x="1258" y="33"/>
                    <a:pt x="1323" y="100"/>
                  </a:cubicBezTo>
                  <a:lnTo>
                    <a:pt x="1324" y="1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84"/>
            <p:cNvSpPr/>
            <p:nvPr/>
          </p:nvSpPr>
          <p:spPr>
            <a:xfrm>
              <a:off x="6726238" y="3416300"/>
              <a:ext cx="487362" cy="538164"/>
            </a:xfrm>
            <a:custGeom>
              <a:avLst/>
              <a:gdLst/>
              <a:ahLst/>
              <a:cxnLst/>
              <a:rect l="l" t="t" r="r" b="b"/>
              <a:pathLst>
                <a:path w="819" h="907" extrusionOk="0">
                  <a:moveTo>
                    <a:pt x="725" y="100"/>
                  </a:moveTo>
                  <a:cubicBezTo>
                    <a:pt x="788" y="168"/>
                    <a:pt x="819" y="262"/>
                    <a:pt x="819" y="382"/>
                  </a:cubicBezTo>
                  <a:lnTo>
                    <a:pt x="819" y="907"/>
                  </a:lnTo>
                  <a:lnTo>
                    <a:pt x="602" y="907"/>
                  </a:lnTo>
                  <a:lnTo>
                    <a:pt x="602" y="413"/>
                  </a:lnTo>
                  <a:cubicBezTo>
                    <a:pt x="602" y="342"/>
                    <a:pt x="585" y="287"/>
                    <a:pt x="551" y="249"/>
                  </a:cubicBezTo>
                  <a:cubicBezTo>
                    <a:pt x="517" y="211"/>
                    <a:pt x="470" y="192"/>
                    <a:pt x="411" y="192"/>
                  </a:cubicBezTo>
                  <a:cubicBezTo>
                    <a:pt x="352" y="192"/>
                    <a:pt x="303" y="211"/>
                    <a:pt x="269" y="249"/>
                  </a:cubicBezTo>
                  <a:cubicBezTo>
                    <a:pt x="234" y="287"/>
                    <a:pt x="217" y="342"/>
                    <a:pt x="217" y="413"/>
                  </a:cubicBezTo>
                  <a:lnTo>
                    <a:pt x="217" y="907"/>
                  </a:lnTo>
                  <a:lnTo>
                    <a:pt x="0" y="907"/>
                  </a:lnTo>
                  <a:lnTo>
                    <a:pt x="0" y="13"/>
                  </a:lnTo>
                  <a:lnTo>
                    <a:pt x="217" y="13"/>
                  </a:lnTo>
                  <a:lnTo>
                    <a:pt x="217" y="124"/>
                  </a:lnTo>
                  <a:cubicBezTo>
                    <a:pt x="246" y="85"/>
                    <a:pt x="283" y="55"/>
                    <a:pt x="328" y="33"/>
                  </a:cubicBezTo>
                  <a:cubicBezTo>
                    <a:pt x="373" y="11"/>
                    <a:pt x="422" y="0"/>
                    <a:pt x="476" y="0"/>
                  </a:cubicBezTo>
                  <a:cubicBezTo>
                    <a:pt x="579" y="0"/>
                    <a:pt x="662" y="34"/>
                    <a:pt x="725" y="101"/>
                  </a:cubicBezTo>
                  <a:lnTo>
                    <a:pt x="725" y="10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84"/>
            <p:cNvSpPr/>
            <p:nvPr/>
          </p:nvSpPr>
          <p:spPr>
            <a:xfrm>
              <a:off x="7281863" y="3203575"/>
              <a:ext cx="158750" cy="750888"/>
            </a:xfrm>
            <a:custGeom>
              <a:avLst/>
              <a:gdLst/>
              <a:ahLst/>
              <a:cxnLst/>
              <a:rect l="l" t="t" r="r" b="b"/>
              <a:pathLst>
                <a:path w="267" h="1265" extrusionOk="0">
                  <a:moveTo>
                    <a:pt x="38" y="226"/>
                  </a:moveTo>
                  <a:cubicBezTo>
                    <a:pt x="13" y="201"/>
                    <a:pt x="0" y="170"/>
                    <a:pt x="0" y="132"/>
                  </a:cubicBezTo>
                  <a:cubicBezTo>
                    <a:pt x="0" y="94"/>
                    <a:pt x="12" y="63"/>
                    <a:pt x="38" y="37"/>
                  </a:cubicBezTo>
                  <a:cubicBezTo>
                    <a:pt x="63" y="12"/>
                    <a:pt x="95" y="0"/>
                    <a:pt x="133" y="0"/>
                  </a:cubicBezTo>
                  <a:cubicBezTo>
                    <a:pt x="172" y="0"/>
                    <a:pt x="204" y="12"/>
                    <a:pt x="229" y="37"/>
                  </a:cubicBezTo>
                  <a:cubicBezTo>
                    <a:pt x="254" y="63"/>
                    <a:pt x="267" y="94"/>
                    <a:pt x="267" y="132"/>
                  </a:cubicBezTo>
                  <a:cubicBezTo>
                    <a:pt x="267" y="170"/>
                    <a:pt x="254" y="201"/>
                    <a:pt x="229" y="226"/>
                  </a:cubicBezTo>
                  <a:cubicBezTo>
                    <a:pt x="204" y="252"/>
                    <a:pt x="172" y="264"/>
                    <a:pt x="133" y="264"/>
                  </a:cubicBezTo>
                  <a:cubicBezTo>
                    <a:pt x="95" y="264"/>
                    <a:pt x="63" y="252"/>
                    <a:pt x="38" y="226"/>
                  </a:cubicBezTo>
                  <a:close/>
                  <a:moveTo>
                    <a:pt x="240" y="371"/>
                  </a:moveTo>
                  <a:lnTo>
                    <a:pt x="240" y="1265"/>
                  </a:lnTo>
                  <a:lnTo>
                    <a:pt x="23" y="1265"/>
                  </a:lnTo>
                  <a:lnTo>
                    <a:pt x="23" y="371"/>
                  </a:lnTo>
                  <a:lnTo>
                    <a:pt x="240" y="3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84"/>
            <p:cNvSpPr/>
            <p:nvPr/>
          </p:nvSpPr>
          <p:spPr>
            <a:xfrm>
              <a:off x="7477126" y="3414713"/>
              <a:ext cx="533400" cy="549274"/>
            </a:xfrm>
            <a:custGeom>
              <a:avLst/>
              <a:gdLst/>
              <a:ahLst/>
              <a:cxnLst/>
              <a:rect l="l" t="t" r="r" b="b"/>
              <a:pathLst>
                <a:path w="896" h="924" extrusionOk="0">
                  <a:moveTo>
                    <a:pt x="52" y="218"/>
                  </a:moveTo>
                  <a:cubicBezTo>
                    <a:pt x="87" y="148"/>
                    <a:pt x="134" y="94"/>
                    <a:pt x="193" y="57"/>
                  </a:cubicBezTo>
                  <a:cubicBezTo>
                    <a:pt x="253" y="19"/>
                    <a:pt x="319" y="0"/>
                    <a:pt x="393" y="0"/>
                  </a:cubicBezTo>
                  <a:cubicBezTo>
                    <a:pt x="457" y="0"/>
                    <a:pt x="513" y="14"/>
                    <a:pt x="561" y="41"/>
                  </a:cubicBezTo>
                  <a:cubicBezTo>
                    <a:pt x="609" y="67"/>
                    <a:pt x="648" y="101"/>
                    <a:pt x="677" y="142"/>
                  </a:cubicBezTo>
                  <a:lnTo>
                    <a:pt x="677" y="15"/>
                  </a:lnTo>
                  <a:lnTo>
                    <a:pt x="896" y="15"/>
                  </a:lnTo>
                  <a:lnTo>
                    <a:pt x="896" y="909"/>
                  </a:lnTo>
                  <a:lnTo>
                    <a:pt x="677" y="909"/>
                  </a:lnTo>
                  <a:lnTo>
                    <a:pt x="677" y="778"/>
                  </a:lnTo>
                  <a:cubicBezTo>
                    <a:pt x="649" y="820"/>
                    <a:pt x="610" y="855"/>
                    <a:pt x="561" y="882"/>
                  </a:cubicBezTo>
                  <a:cubicBezTo>
                    <a:pt x="512" y="910"/>
                    <a:pt x="455" y="924"/>
                    <a:pt x="391" y="924"/>
                  </a:cubicBezTo>
                  <a:cubicBezTo>
                    <a:pt x="319" y="924"/>
                    <a:pt x="253" y="904"/>
                    <a:pt x="193" y="866"/>
                  </a:cubicBezTo>
                  <a:cubicBezTo>
                    <a:pt x="134" y="827"/>
                    <a:pt x="87" y="772"/>
                    <a:pt x="52" y="702"/>
                  </a:cubicBezTo>
                  <a:cubicBezTo>
                    <a:pt x="17" y="631"/>
                    <a:pt x="0" y="550"/>
                    <a:pt x="0" y="459"/>
                  </a:cubicBezTo>
                  <a:cubicBezTo>
                    <a:pt x="0" y="367"/>
                    <a:pt x="17" y="288"/>
                    <a:pt x="52" y="218"/>
                  </a:cubicBezTo>
                  <a:lnTo>
                    <a:pt x="52" y="218"/>
                  </a:lnTo>
                  <a:close/>
                  <a:moveTo>
                    <a:pt x="646" y="320"/>
                  </a:moveTo>
                  <a:cubicBezTo>
                    <a:pt x="625" y="281"/>
                    <a:pt x="597" y="251"/>
                    <a:pt x="562" y="230"/>
                  </a:cubicBezTo>
                  <a:cubicBezTo>
                    <a:pt x="527" y="209"/>
                    <a:pt x="489" y="199"/>
                    <a:pt x="449" y="199"/>
                  </a:cubicBezTo>
                  <a:cubicBezTo>
                    <a:pt x="408" y="199"/>
                    <a:pt x="371" y="209"/>
                    <a:pt x="337" y="229"/>
                  </a:cubicBezTo>
                  <a:cubicBezTo>
                    <a:pt x="303" y="250"/>
                    <a:pt x="275" y="280"/>
                    <a:pt x="254" y="319"/>
                  </a:cubicBezTo>
                  <a:cubicBezTo>
                    <a:pt x="232" y="358"/>
                    <a:pt x="222" y="405"/>
                    <a:pt x="222" y="458"/>
                  </a:cubicBezTo>
                  <a:cubicBezTo>
                    <a:pt x="222" y="512"/>
                    <a:pt x="232" y="559"/>
                    <a:pt x="254" y="599"/>
                  </a:cubicBezTo>
                  <a:cubicBezTo>
                    <a:pt x="275" y="640"/>
                    <a:pt x="303" y="671"/>
                    <a:pt x="337" y="692"/>
                  </a:cubicBezTo>
                  <a:cubicBezTo>
                    <a:pt x="372" y="714"/>
                    <a:pt x="409" y="725"/>
                    <a:pt x="448" y="725"/>
                  </a:cubicBezTo>
                  <a:cubicBezTo>
                    <a:pt x="488" y="725"/>
                    <a:pt x="527" y="714"/>
                    <a:pt x="562" y="693"/>
                  </a:cubicBezTo>
                  <a:cubicBezTo>
                    <a:pt x="597" y="672"/>
                    <a:pt x="625" y="642"/>
                    <a:pt x="646" y="603"/>
                  </a:cubicBezTo>
                  <a:cubicBezTo>
                    <a:pt x="666" y="563"/>
                    <a:pt x="677" y="516"/>
                    <a:pt x="677" y="462"/>
                  </a:cubicBezTo>
                  <a:cubicBezTo>
                    <a:pt x="677" y="407"/>
                    <a:pt x="667" y="360"/>
                    <a:pt x="646" y="320"/>
                  </a:cubicBezTo>
                  <a:lnTo>
                    <a:pt x="646" y="32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84"/>
            <p:cNvSpPr/>
            <p:nvPr/>
          </p:nvSpPr>
          <p:spPr>
            <a:xfrm>
              <a:off x="4954588" y="3414713"/>
              <a:ext cx="796925" cy="547687"/>
            </a:xfrm>
            <a:custGeom>
              <a:avLst/>
              <a:gdLst/>
              <a:ahLst/>
              <a:cxnLst/>
              <a:rect l="l" t="t" r="r" b="b"/>
              <a:pathLst>
                <a:path w="1340" h="923" extrusionOk="0">
                  <a:moveTo>
                    <a:pt x="436" y="923"/>
                  </a:moveTo>
                  <a:cubicBezTo>
                    <a:pt x="353" y="923"/>
                    <a:pt x="279" y="904"/>
                    <a:pt x="212" y="866"/>
                  </a:cubicBezTo>
                  <a:cubicBezTo>
                    <a:pt x="146" y="828"/>
                    <a:pt x="94" y="774"/>
                    <a:pt x="56" y="703"/>
                  </a:cubicBezTo>
                  <a:cubicBezTo>
                    <a:pt x="19" y="634"/>
                    <a:pt x="0" y="553"/>
                    <a:pt x="0" y="461"/>
                  </a:cubicBezTo>
                  <a:cubicBezTo>
                    <a:pt x="0" y="370"/>
                    <a:pt x="19" y="289"/>
                    <a:pt x="58" y="219"/>
                  </a:cubicBezTo>
                  <a:cubicBezTo>
                    <a:pt x="97" y="149"/>
                    <a:pt x="150" y="95"/>
                    <a:pt x="217" y="57"/>
                  </a:cubicBezTo>
                  <a:cubicBezTo>
                    <a:pt x="284" y="19"/>
                    <a:pt x="358" y="0"/>
                    <a:pt x="441" y="0"/>
                  </a:cubicBezTo>
                  <a:lnTo>
                    <a:pt x="441" y="0"/>
                  </a:lnTo>
                  <a:lnTo>
                    <a:pt x="897" y="0"/>
                  </a:lnTo>
                  <a:cubicBezTo>
                    <a:pt x="980" y="0"/>
                    <a:pt x="1055" y="19"/>
                    <a:pt x="1122" y="57"/>
                  </a:cubicBezTo>
                  <a:cubicBezTo>
                    <a:pt x="1190" y="95"/>
                    <a:pt x="1243" y="149"/>
                    <a:pt x="1282" y="219"/>
                  </a:cubicBezTo>
                  <a:cubicBezTo>
                    <a:pt x="1320" y="289"/>
                    <a:pt x="1340" y="370"/>
                    <a:pt x="1340" y="461"/>
                  </a:cubicBezTo>
                  <a:cubicBezTo>
                    <a:pt x="1340" y="553"/>
                    <a:pt x="1319" y="634"/>
                    <a:pt x="1280" y="703"/>
                  </a:cubicBezTo>
                  <a:cubicBezTo>
                    <a:pt x="1240" y="774"/>
                    <a:pt x="1186" y="828"/>
                    <a:pt x="1118" y="866"/>
                  </a:cubicBezTo>
                  <a:cubicBezTo>
                    <a:pt x="1052" y="903"/>
                    <a:pt x="978" y="922"/>
                    <a:pt x="896" y="923"/>
                  </a:cubicBezTo>
                  <a:lnTo>
                    <a:pt x="436" y="923"/>
                  </a:lnTo>
                  <a:close/>
                  <a:moveTo>
                    <a:pt x="220" y="461"/>
                  </a:moveTo>
                  <a:cubicBezTo>
                    <a:pt x="220" y="376"/>
                    <a:pt x="241" y="311"/>
                    <a:pt x="283" y="265"/>
                  </a:cubicBezTo>
                  <a:lnTo>
                    <a:pt x="283" y="265"/>
                  </a:lnTo>
                  <a:cubicBezTo>
                    <a:pt x="325" y="219"/>
                    <a:pt x="377" y="197"/>
                    <a:pt x="439" y="197"/>
                  </a:cubicBezTo>
                  <a:lnTo>
                    <a:pt x="896" y="197"/>
                  </a:lnTo>
                  <a:cubicBezTo>
                    <a:pt x="957" y="197"/>
                    <a:pt x="1009" y="220"/>
                    <a:pt x="1052" y="265"/>
                  </a:cubicBezTo>
                  <a:cubicBezTo>
                    <a:pt x="1095" y="311"/>
                    <a:pt x="1116" y="377"/>
                    <a:pt x="1116" y="461"/>
                  </a:cubicBezTo>
                  <a:cubicBezTo>
                    <a:pt x="1116" y="519"/>
                    <a:pt x="1105" y="567"/>
                    <a:pt x="1085" y="607"/>
                  </a:cubicBezTo>
                  <a:cubicBezTo>
                    <a:pt x="1065" y="647"/>
                    <a:pt x="1037" y="676"/>
                    <a:pt x="1002" y="696"/>
                  </a:cubicBezTo>
                  <a:cubicBezTo>
                    <a:pt x="969" y="716"/>
                    <a:pt x="933" y="726"/>
                    <a:pt x="896" y="726"/>
                  </a:cubicBezTo>
                  <a:lnTo>
                    <a:pt x="436" y="726"/>
                  </a:lnTo>
                  <a:cubicBezTo>
                    <a:pt x="374" y="726"/>
                    <a:pt x="322" y="704"/>
                    <a:pt x="282" y="657"/>
                  </a:cubicBezTo>
                  <a:cubicBezTo>
                    <a:pt x="241" y="612"/>
                    <a:pt x="220" y="546"/>
                    <a:pt x="220" y="4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84"/>
          <p:cNvSpPr txBox="1">
            <a:spLocks noGrp="1"/>
          </p:cNvSpPr>
          <p:nvPr>
            <p:ph type="body" idx="8"/>
          </p:nvPr>
        </p:nvSpPr>
        <p:spPr>
          <a:xfrm>
            <a:off x="6009769" y="3044988"/>
            <a:ext cx="2215800" cy="12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158" name="Google Shape;158;p84"/>
          <p:cNvSpPr txBox="1">
            <a:spLocks noGrp="1"/>
          </p:cNvSpPr>
          <p:nvPr>
            <p:ph type="title" idx="9"/>
          </p:nvPr>
        </p:nvSpPr>
        <p:spPr>
          <a:xfrm>
            <a:off x="6009775" y="2627239"/>
            <a:ext cx="2215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Poppins"/>
              <a:buNone/>
              <a:defRPr sz="12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Poppins Medium"/>
              <a:buNone/>
              <a:defRPr sz="2800" b="0" i="0" u="none" strike="noStrike" cap="none">
                <a:solidFill>
                  <a:srgbClr val="333333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○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■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○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■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●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○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Char char="■"/>
              <a:defRPr sz="12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31"/>
          <p:cNvSpPr txBox="1">
            <a:spLocks noGrp="1"/>
          </p:cNvSpPr>
          <p:nvPr>
            <p:ph type="sldNum" idx="12"/>
          </p:nvPr>
        </p:nvSpPr>
        <p:spPr>
          <a:xfrm>
            <a:off x="8359774" y="4874895"/>
            <a:ext cx="476250" cy="130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457200" marR="0" lvl="1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457200" marR="0" lvl="2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457200" marR="0" lvl="3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457200" marR="0" lvl="4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457200" marR="0" lvl="5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57200" marR="0" lvl="6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57200" marR="0" lvl="7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57200" marR="0" lvl="8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457200" lvl="0" indent="-45720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6" r:id="rId2"/>
    <p:sldLayoutId id="2147483663" r:id="rId3"/>
    <p:sldLayoutId id="214748366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188">
          <p15:clr>
            <a:srgbClr val="E46962"/>
          </p15:clr>
        </p15:guide>
        <p15:guide id="3" pos="2880">
          <p15:clr>
            <a:srgbClr val="E46962"/>
          </p15:clr>
        </p15:guide>
        <p15:guide id="4" orient="horz" pos="2988">
          <p15:clr>
            <a:srgbClr val="E46962"/>
          </p15:clr>
        </p15:guide>
        <p15:guide id="5" pos="5566">
          <p15:clr>
            <a:srgbClr val="E46962"/>
          </p15:clr>
        </p15:guide>
        <p15:guide id="6" orient="horz" pos="27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0" Type="http://schemas.openxmlformats.org/officeDocument/2006/relationships/image" Target="../media/image23.png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&amp; Offerings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76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A0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layers of how Xomnia goes to market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3931920" cy="3493008"/>
          </a:xfrm>
          <a:prstGeom prst="roundRect">
            <a:avLst>
              <a:gd name="adj" fmla="val 2094"/>
            </a:avLst>
          </a:prstGeom>
          <a:solidFill>
            <a:srgbClr val="1F4E7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30352" y="97840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A0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1216152"/>
            <a:ext cx="3419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we stand for here,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does the market need us?”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1938528"/>
            <a:ext cx="3419856" cy="0"/>
          </a:xfrm>
          <a:prstGeom prst="line">
            <a:avLst/>
          </a:prstGeom>
          <a:noFill/>
          <a:ln w="9525">
            <a:solidFill>
              <a:srgbClr val="3B6A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30352" y="2029968"/>
            <a:ext cx="3419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cluster of related capabilities that positions Xomnia in a specific market domain. It combines a clear point of view on a challenge with a coherent set of activities we bring to bear.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and durable: it shapes how we show up, how we talk about ourselves, and how we organise our teams. Xomnia has five propositions, each representing a distinct area of transformation value.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394106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0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 ·  Durable  ·  Shapes positioning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37760" y="795528"/>
            <a:ext cx="3931920" cy="3493008"/>
          </a:xfrm>
          <a:prstGeom prst="roundRect">
            <a:avLst>
              <a:gd name="adj" fmla="val 2094"/>
            </a:avLst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193792" y="97840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50" dirty="0">
                <a:solidFill>
                  <a:srgbClr val="BD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93792" y="1216152"/>
            <a:ext cx="3419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exactly will you do for us,</a:t>
            </a:r>
            <a:endParaRPr lang="en-US" sz="1250" dirty="0"/>
          </a:p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how, and for how much?”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93792" y="1938528"/>
            <a:ext cx="3419856" cy="0"/>
          </a:xfrm>
          <a:prstGeom prst="line">
            <a:avLst/>
          </a:prstGeom>
          <a:noFill/>
          <a:ln w="9525">
            <a:solidFill>
              <a:srgbClr val="5090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193792" y="2029968"/>
            <a:ext cx="3419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packaged, deliverable answer to a specific customer need within a proposition. With a defined scope, a concrete approach, a clear team structure, a realistic timeline, and a commercial model.</a:t>
            </a:r>
            <a:endParaRPr lang="en-US" sz="1050" dirty="0"/>
          </a:p>
          <a:p>
            <a:pPr marL="0" indent="0">
              <a:buNone/>
            </a:pPr>
            <a:r>
              <a:rPr lang="en-US" sz="600" dirty="0">
                <a:solidFill>
                  <a:srgbClr val="DC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and repeatable: it can be scoped, priced, and sold. Multiple offerings can live under one proposition — together making it tangible and commercially executable.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93792" y="394106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D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 ·  Repeatable  ·  Priced and sold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34256" y="2340864"/>
            <a:ext cx="475488" cy="402336"/>
          </a:xfrm>
          <a:prstGeom prst="roundRect">
            <a:avLst>
              <a:gd name="adj" fmla="val 9091"/>
            </a:avLst>
          </a:prstGeom>
          <a:solidFill>
            <a:srgbClr val="E2EDF7"/>
          </a:solidFill>
          <a:ln w="9525">
            <a:solidFill>
              <a:srgbClr val="B8D0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334256" y="234086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52F55"/>
          </a:solidFill>
          <a:ln w="12700">
            <a:solidFill>
              <a:srgbClr val="152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logic: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offering once for one paying client — then replicate and sell it to many.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411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3" name="Text 1"/>
          <p:cNvSpPr/>
          <p:nvPr/>
        </p:nvSpPr>
        <p:spPr>
          <a:xfrm>
            <a:off x="240030" y="150876"/>
            <a:ext cx="6858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Choices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40030" y="603504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C2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propositions &amp; offerings for a Data &amp; AI consultancy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240030" y="891540"/>
            <a:ext cx="8641080" cy="17145"/>
          </a:xfrm>
          <a:prstGeom prst="rect">
            <a:avLst/>
          </a:prstGeom>
          <a:solidFill>
            <a:srgbClr val="6B7FBA"/>
          </a:solidFill>
          <a:ln w="12700">
            <a:solidFill>
              <a:srgbClr val="6B7FBA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6" name="Shape 4"/>
          <p:cNvSpPr/>
          <p:nvPr/>
        </p:nvSpPr>
        <p:spPr>
          <a:xfrm>
            <a:off x="240030" y="994410"/>
            <a:ext cx="1645920" cy="3991356"/>
          </a:xfrm>
          <a:prstGeom prst="rect">
            <a:avLst/>
          </a:prstGeom>
          <a:solidFill>
            <a:srgbClr val="172060"/>
          </a:solidFill>
          <a:ln w="9525">
            <a:solidFill>
              <a:srgbClr val="253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sz="1050"/>
          </a:p>
        </p:txBody>
      </p:sp>
      <p:sp>
        <p:nvSpPr>
          <p:cNvPr id="7" name="Shape 5"/>
          <p:cNvSpPr/>
          <p:nvPr/>
        </p:nvSpPr>
        <p:spPr>
          <a:xfrm>
            <a:off x="240030" y="994410"/>
            <a:ext cx="1645920" cy="4800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8" name="Text 6"/>
          <p:cNvSpPr/>
          <p:nvPr/>
        </p:nvSpPr>
        <p:spPr>
          <a:xfrm>
            <a:off x="363474" y="1076706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3474" y="159791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088" dirty="0"/>
          </a:p>
        </p:txBody>
      </p:sp>
      <p:sp>
        <p:nvSpPr>
          <p:cNvPr id="10" name="Text 8"/>
          <p:cNvSpPr/>
          <p:nvPr/>
        </p:nvSpPr>
        <p:spPr>
          <a:xfrm>
            <a:off x="363474" y="1968246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Inside-Out  ↔  Outside-In</a:t>
            </a:r>
            <a:endParaRPr lang="en-US" sz="713" dirty="0"/>
          </a:p>
        </p:txBody>
      </p:sp>
      <p:sp>
        <p:nvSpPr>
          <p:cNvPr id="11" name="Shape 9"/>
          <p:cNvSpPr/>
          <p:nvPr/>
        </p:nvSpPr>
        <p:spPr>
          <a:xfrm>
            <a:off x="363474" y="2283714"/>
            <a:ext cx="1399032" cy="13716"/>
          </a:xfrm>
          <a:prstGeom prst="rect">
            <a:avLst/>
          </a:prstGeom>
          <a:solidFill>
            <a:srgbClr val="6B7FBA"/>
          </a:solidFill>
          <a:ln w="12700">
            <a:solidFill>
              <a:srgbClr val="6B7FBA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12" name="Text 10"/>
          <p:cNvSpPr/>
          <p:nvPr/>
        </p:nvSpPr>
        <p:spPr>
          <a:xfrm>
            <a:off x="363474" y="2400300"/>
            <a:ext cx="139903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88" dirty="0">
                <a:solidFill>
                  <a:srgbClr val="C2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Capability-first builds menus. Problem-first builds propositions. Map offerings to client Jobs-to-be-Done, not your internal service taxonomy.</a:t>
            </a:r>
            <a:endParaRPr lang="en-US" sz="788" dirty="0"/>
          </a:p>
        </p:txBody>
      </p:sp>
      <p:sp>
        <p:nvSpPr>
          <p:cNvPr id="13" name="Shape 11"/>
          <p:cNvSpPr/>
          <p:nvPr/>
        </p:nvSpPr>
        <p:spPr>
          <a:xfrm>
            <a:off x="1988820" y="994410"/>
            <a:ext cx="1645920" cy="3991356"/>
          </a:xfrm>
          <a:prstGeom prst="rect">
            <a:avLst/>
          </a:prstGeom>
          <a:solidFill>
            <a:srgbClr val="172060"/>
          </a:solidFill>
          <a:ln w="9525">
            <a:solidFill>
              <a:srgbClr val="253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sz="1050"/>
          </a:p>
        </p:txBody>
      </p:sp>
      <p:sp>
        <p:nvSpPr>
          <p:cNvPr id="14" name="Shape 12"/>
          <p:cNvSpPr/>
          <p:nvPr/>
        </p:nvSpPr>
        <p:spPr>
          <a:xfrm>
            <a:off x="1988820" y="994410"/>
            <a:ext cx="1645920" cy="4800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15" name="Text 13"/>
          <p:cNvSpPr/>
          <p:nvPr/>
        </p:nvSpPr>
        <p:spPr>
          <a:xfrm>
            <a:off x="2112264" y="1076706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112264" y="159791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2112264" y="1968246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 ↔  Vertical</a:t>
            </a:r>
            <a:endParaRPr lang="en-US" sz="713" dirty="0"/>
          </a:p>
        </p:txBody>
      </p:sp>
      <p:sp>
        <p:nvSpPr>
          <p:cNvPr id="18" name="Shape 16"/>
          <p:cNvSpPr/>
          <p:nvPr/>
        </p:nvSpPr>
        <p:spPr>
          <a:xfrm>
            <a:off x="2112264" y="2283714"/>
            <a:ext cx="1399032" cy="13716"/>
          </a:xfrm>
          <a:prstGeom prst="rect">
            <a:avLst/>
          </a:prstGeom>
          <a:solidFill>
            <a:srgbClr val="6B7FBA"/>
          </a:solidFill>
          <a:ln w="12700">
            <a:solidFill>
              <a:srgbClr val="6B7FBA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19" name="Text 17"/>
          <p:cNvSpPr/>
          <p:nvPr/>
        </p:nvSpPr>
        <p:spPr>
          <a:xfrm>
            <a:off x="2112264" y="2400300"/>
            <a:ext cx="139903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88" dirty="0">
                <a:solidFill>
                  <a:srgbClr val="C2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capability across sectors vs. deep industry specialization. At boutique scale, hyper-specificity beats breadth on win rates and margin.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3737610" y="994410"/>
            <a:ext cx="1645920" cy="3991356"/>
          </a:xfrm>
          <a:prstGeom prst="rect">
            <a:avLst/>
          </a:prstGeom>
          <a:solidFill>
            <a:srgbClr val="172060"/>
          </a:solidFill>
          <a:ln w="9525">
            <a:solidFill>
              <a:srgbClr val="253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sz="1050"/>
          </a:p>
        </p:txBody>
      </p:sp>
      <p:sp>
        <p:nvSpPr>
          <p:cNvPr id="21" name="Shape 19"/>
          <p:cNvSpPr/>
          <p:nvPr/>
        </p:nvSpPr>
        <p:spPr>
          <a:xfrm>
            <a:off x="3737610" y="994410"/>
            <a:ext cx="1645920" cy="4800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22" name="Text 20"/>
          <p:cNvSpPr/>
          <p:nvPr/>
        </p:nvSpPr>
        <p:spPr>
          <a:xfrm>
            <a:off x="3861054" y="1076706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861054" y="159791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Position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3861054" y="1968246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 ↔  Build  ↔  Run</a:t>
            </a:r>
            <a:endParaRPr lang="en-US" sz="713" dirty="0"/>
          </a:p>
        </p:txBody>
      </p:sp>
      <p:sp>
        <p:nvSpPr>
          <p:cNvPr id="25" name="Shape 23"/>
          <p:cNvSpPr/>
          <p:nvPr/>
        </p:nvSpPr>
        <p:spPr>
          <a:xfrm>
            <a:off x="3861054" y="2283714"/>
            <a:ext cx="1399032" cy="13716"/>
          </a:xfrm>
          <a:prstGeom prst="rect">
            <a:avLst/>
          </a:prstGeom>
          <a:solidFill>
            <a:srgbClr val="6B7FBA"/>
          </a:solidFill>
          <a:ln w="12700">
            <a:solidFill>
              <a:srgbClr val="6B7FBA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26" name="Text 24"/>
          <p:cNvSpPr/>
          <p:nvPr/>
        </p:nvSpPr>
        <p:spPr>
          <a:xfrm>
            <a:off x="3861054" y="2400300"/>
            <a:ext cx="139903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88" dirty="0">
                <a:solidFill>
                  <a:srgbClr val="C2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commands margin; managed services drives recurring revenue. Productize upward or integrate downward — each has a different risk profile.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5486400" y="994410"/>
            <a:ext cx="1645920" cy="3991356"/>
          </a:xfrm>
          <a:prstGeom prst="rect">
            <a:avLst/>
          </a:prstGeom>
          <a:solidFill>
            <a:srgbClr val="172060"/>
          </a:solidFill>
          <a:ln w="9525">
            <a:solidFill>
              <a:srgbClr val="253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sz="1050"/>
          </a:p>
        </p:txBody>
      </p:sp>
      <p:sp>
        <p:nvSpPr>
          <p:cNvPr id="28" name="Shape 26"/>
          <p:cNvSpPr/>
          <p:nvPr/>
        </p:nvSpPr>
        <p:spPr>
          <a:xfrm>
            <a:off x="5486400" y="994410"/>
            <a:ext cx="1645920" cy="4800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29" name="Text 27"/>
          <p:cNvSpPr/>
          <p:nvPr/>
        </p:nvSpPr>
        <p:spPr>
          <a:xfrm>
            <a:off x="5609844" y="1076706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609844" y="159791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</a:t>
            </a:r>
            <a:endParaRPr lang="en-US" sz="1088" dirty="0"/>
          </a:p>
        </p:txBody>
      </p:sp>
      <p:sp>
        <p:nvSpPr>
          <p:cNvPr id="31" name="Text 29"/>
          <p:cNvSpPr/>
          <p:nvPr/>
        </p:nvSpPr>
        <p:spPr>
          <a:xfrm>
            <a:off x="5609844" y="1968246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 ↔  Packaged</a:t>
            </a:r>
            <a:endParaRPr lang="en-US" sz="713" dirty="0"/>
          </a:p>
        </p:txBody>
      </p:sp>
      <p:sp>
        <p:nvSpPr>
          <p:cNvPr id="32" name="Shape 30"/>
          <p:cNvSpPr/>
          <p:nvPr/>
        </p:nvSpPr>
        <p:spPr>
          <a:xfrm>
            <a:off x="5609844" y="2283714"/>
            <a:ext cx="1399032" cy="13716"/>
          </a:xfrm>
          <a:prstGeom prst="rect">
            <a:avLst/>
          </a:prstGeom>
          <a:solidFill>
            <a:srgbClr val="6B7FBA"/>
          </a:solidFill>
          <a:ln w="12700">
            <a:solidFill>
              <a:srgbClr val="6B7FBA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33" name="Text 31"/>
          <p:cNvSpPr/>
          <p:nvPr/>
        </p:nvSpPr>
        <p:spPr>
          <a:xfrm>
            <a:off x="5609844" y="2400300"/>
            <a:ext cx="139903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88" dirty="0">
                <a:solidFill>
                  <a:srgbClr val="C2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doesn't scale. Fixed scope, fixed price, named methodology. Packaged entry offers cut sales friction and create a natural pipeline.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7235190" y="994410"/>
            <a:ext cx="1645920" cy="3991356"/>
          </a:xfrm>
          <a:prstGeom prst="rect">
            <a:avLst/>
          </a:prstGeom>
          <a:solidFill>
            <a:srgbClr val="172060"/>
          </a:solidFill>
          <a:ln w="9525">
            <a:solidFill>
              <a:srgbClr val="253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 sz="1050"/>
          </a:p>
        </p:txBody>
      </p:sp>
      <p:sp>
        <p:nvSpPr>
          <p:cNvPr id="35" name="Shape 33"/>
          <p:cNvSpPr/>
          <p:nvPr/>
        </p:nvSpPr>
        <p:spPr>
          <a:xfrm>
            <a:off x="7235190" y="994410"/>
            <a:ext cx="1645920" cy="4800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36" name="Text 34"/>
          <p:cNvSpPr/>
          <p:nvPr/>
        </p:nvSpPr>
        <p:spPr>
          <a:xfrm>
            <a:off x="7358634" y="1076706"/>
            <a:ext cx="1399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358634" y="159791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Market-Making</a:t>
            </a:r>
            <a:endParaRPr lang="en-US" sz="1088" dirty="0"/>
          </a:p>
        </p:txBody>
      </p:sp>
      <p:sp>
        <p:nvSpPr>
          <p:cNvPr id="38" name="Text 36"/>
          <p:cNvSpPr/>
          <p:nvPr/>
        </p:nvSpPr>
        <p:spPr>
          <a:xfrm>
            <a:off x="7358634" y="1968246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 ↔  Thought Leader</a:t>
            </a:r>
            <a:endParaRPr lang="en-US" sz="713" dirty="0"/>
          </a:p>
        </p:txBody>
      </p:sp>
      <p:sp>
        <p:nvSpPr>
          <p:cNvPr id="39" name="Shape 37"/>
          <p:cNvSpPr/>
          <p:nvPr/>
        </p:nvSpPr>
        <p:spPr>
          <a:xfrm>
            <a:off x="7358634" y="2283714"/>
            <a:ext cx="1399032" cy="13716"/>
          </a:xfrm>
          <a:prstGeom prst="rect">
            <a:avLst/>
          </a:prstGeom>
          <a:solidFill>
            <a:srgbClr val="6B7FBA"/>
          </a:solidFill>
          <a:ln w="12700">
            <a:solidFill>
              <a:srgbClr val="6B7FBA"/>
            </a:solidFill>
            <a:prstDash val="solid"/>
          </a:ln>
        </p:spPr>
        <p:txBody>
          <a:bodyPr/>
          <a:lstStyle/>
          <a:p>
            <a:endParaRPr lang="en-GB" sz="1050"/>
          </a:p>
        </p:txBody>
      </p:sp>
      <p:sp>
        <p:nvSpPr>
          <p:cNvPr id="40" name="Text 38"/>
          <p:cNvSpPr/>
          <p:nvPr/>
        </p:nvSpPr>
        <p:spPr>
          <a:xfrm>
            <a:off x="7358634" y="2400300"/>
            <a:ext cx="139903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88" dirty="0">
                <a:solidFill>
                  <a:srgbClr val="C2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a distinctive point of view before the market names the problem. Clients who internalize your framing make you the default choice.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240030" y="4972050"/>
            <a:ext cx="86410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dirty="0">
                <a:solidFill>
                  <a:srgbClr val="6B7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Felix · Strategic Frameworks · Data &amp; AI Consultancy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7"/>
          <p:cNvSpPr/>
          <p:nvPr/>
        </p:nvSpPr>
        <p:spPr>
          <a:xfrm>
            <a:off x="5453927" y="1536192"/>
            <a:ext cx="1645920" cy="26517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7"/>
          <p:cNvSpPr txBox="1">
            <a:spLocks noGrp="1"/>
          </p:cNvSpPr>
          <p:nvPr>
            <p:ph type="title"/>
          </p:nvPr>
        </p:nvSpPr>
        <p:spPr>
          <a:xfrm>
            <a:off x="311700" y="699169"/>
            <a:ext cx="8520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 b="1" dirty="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make AI work</a:t>
            </a:r>
            <a:endParaRPr dirty="0"/>
          </a:p>
        </p:txBody>
      </p:sp>
      <p:sp>
        <p:nvSpPr>
          <p:cNvPr id="644" name="Google Shape;644;p57"/>
          <p:cNvSpPr txBox="1">
            <a:spLocks noGrp="1"/>
          </p:cNvSpPr>
          <p:nvPr>
            <p:ph type="sldNum" idx="12"/>
          </p:nvPr>
        </p:nvSpPr>
        <p:spPr>
          <a:xfrm>
            <a:off x="8387184" y="4871050"/>
            <a:ext cx="44884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457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45" name="Google Shape;645;p57"/>
          <p:cNvSpPr/>
          <p:nvPr/>
        </p:nvSpPr>
        <p:spPr>
          <a:xfrm>
            <a:off x="296711" y="1536192"/>
            <a:ext cx="1645920" cy="26517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7"/>
          <p:cNvSpPr/>
          <p:nvPr/>
        </p:nvSpPr>
        <p:spPr>
          <a:xfrm>
            <a:off x="406439" y="167335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7" name="Google Shape;647;p5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439" y="21305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57"/>
          <p:cNvSpPr/>
          <p:nvPr/>
        </p:nvSpPr>
        <p:spPr>
          <a:xfrm>
            <a:off x="388151" y="2706225"/>
            <a:ext cx="146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SzPts val="1200"/>
            </a:pPr>
            <a:r>
              <a:rPr lang="en-GB" sz="12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Clear direction with AI</a:t>
            </a:r>
            <a:endParaRPr lang="en-GB" sz="1200" dirty="0">
              <a:solidFill>
                <a:schemeClr val="dk2"/>
              </a:solidFill>
            </a:endParaRPr>
          </a:p>
        </p:txBody>
      </p:sp>
      <p:sp>
        <p:nvSpPr>
          <p:cNvPr id="649" name="Google Shape;649;p57"/>
          <p:cNvSpPr/>
          <p:nvPr/>
        </p:nvSpPr>
        <p:spPr>
          <a:xfrm>
            <a:off x="388151" y="3243688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57294"/>
                </a:solidFill>
                <a:latin typeface="Poppins"/>
                <a:ea typeface="Poppins"/>
                <a:cs typeface="Poppins"/>
                <a:sym typeface="Poppins"/>
              </a:rPr>
              <a:t>AI mapped to business value, competitive advantage and investment thesis with executable roadmap</a:t>
            </a:r>
            <a:endParaRPr sz="1000" b="0" i="0" u="none" strike="noStrike" cap="none">
              <a:solidFill>
                <a:srgbClr val="5572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7"/>
          <p:cNvSpPr/>
          <p:nvPr/>
        </p:nvSpPr>
        <p:spPr>
          <a:xfrm>
            <a:off x="2015783" y="1536192"/>
            <a:ext cx="1645920" cy="26517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7"/>
          <p:cNvSpPr/>
          <p:nvPr/>
        </p:nvSpPr>
        <p:spPr>
          <a:xfrm>
            <a:off x="2125511" y="167335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7"/>
          <p:cNvSpPr/>
          <p:nvPr/>
        </p:nvSpPr>
        <p:spPr>
          <a:xfrm>
            <a:off x="2107223" y="2706225"/>
            <a:ext cx="146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Agentic solutions in production</a:t>
            </a:r>
            <a:endParaRPr sz="12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7"/>
          <p:cNvSpPr/>
          <p:nvPr/>
        </p:nvSpPr>
        <p:spPr>
          <a:xfrm>
            <a:off x="2107223" y="3243688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57294"/>
                </a:solidFill>
                <a:latin typeface="Poppins"/>
                <a:ea typeface="Poppins"/>
                <a:cs typeface="Poppins"/>
                <a:sym typeface="Poppins"/>
              </a:rPr>
              <a:t>Agents, assets and connectors, from prototype to real impact with agent lifecycle management </a:t>
            </a:r>
            <a:endParaRPr sz="1000" b="0" i="0" u="none" strike="noStrike" cap="none">
              <a:solidFill>
                <a:srgbClr val="5572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7"/>
          <p:cNvSpPr/>
          <p:nvPr/>
        </p:nvSpPr>
        <p:spPr>
          <a:xfrm>
            <a:off x="3734855" y="1536192"/>
            <a:ext cx="1645920" cy="26517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7"/>
          <p:cNvSpPr/>
          <p:nvPr/>
        </p:nvSpPr>
        <p:spPr>
          <a:xfrm>
            <a:off x="3844583" y="167335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6" name="Google Shape;656;p5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4583" y="21305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7"/>
          <p:cNvSpPr/>
          <p:nvPr/>
        </p:nvSpPr>
        <p:spPr>
          <a:xfrm>
            <a:off x="3826295" y="2706225"/>
            <a:ext cx="146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Intelligent</a:t>
            </a:r>
            <a:br>
              <a:rPr lang="en" sz="12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2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Workflows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7"/>
          <p:cNvSpPr/>
          <p:nvPr/>
        </p:nvSpPr>
        <p:spPr>
          <a:xfrm>
            <a:off x="3826295" y="3243688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57294"/>
                </a:solidFill>
                <a:latin typeface="Poppins"/>
                <a:ea typeface="Poppins"/>
                <a:cs typeface="Poppins"/>
                <a:sym typeface="Poppins"/>
              </a:rPr>
              <a:t>Cross-functional workflow redesign, human-agent task allocation and orchestration</a:t>
            </a:r>
            <a:endParaRPr sz="1000" b="0" i="0" u="none" strike="noStrike" cap="none">
              <a:solidFill>
                <a:srgbClr val="5572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7"/>
          <p:cNvSpPr/>
          <p:nvPr/>
        </p:nvSpPr>
        <p:spPr>
          <a:xfrm>
            <a:off x="5563655" y="167335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7"/>
          <p:cNvSpPr/>
          <p:nvPr/>
        </p:nvSpPr>
        <p:spPr>
          <a:xfrm>
            <a:off x="5545367" y="2706225"/>
            <a:ext cx="14630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Modern Data </a:t>
            </a:r>
            <a:br>
              <a:rPr lang="en" sz="1200" b="1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200" b="1" i="0" u="none" strike="noStrike" cap="none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Foundation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57"/>
          <p:cNvSpPr/>
          <p:nvPr/>
        </p:nvSpPr>
        <p:spPr>
          <a:xfrm>
            <a:off x="5545367" y="3243688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57294"/>
                </a:solidFill>
                <a:latin typeface="Poppins"/>
                <a:ea typeface="Poppins"/>
                <a:cs typeface="Poppins"/>
                <a:sym typeface="Poppins"/>
              </a:rPr>
              <a:t>From legacy stack to </a:t>
            </a:r>
            <a:br>
              <a:rPr lang="en" sz="1000" b="0" i="0" u="none" strike="noStrike" cap="none">
                <a:solidFill>
                  <a:srgbClr val="557294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 b="0" i="0" u="none" strike="noStrike" cap="none">
                <a:solidFill>
                  <a:srgbClr val="557294"/>
                </a:solidFill>
                <a:latin typeface="Poppins"/>
                <a:ea typeface="Poppins"/>
                <a:cs typeface="Poppins"/>
                <a:sym typeface="Poppins"/>
              </a:rPr>
              <a:t>AI-ready foundation, AI platforms and cloud infrastructure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7"/>
          <p:cNvSpPr/>
          <p:nvPr/>
        </p:nvSpPr>
        <p:spPr>
          <a:xfrm>
            <a:off x="7172999" y="1536192"/>
            <a:ext cx="1645920" cy="26517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7"/>
          <p:cNvSpPr/>
          <p:nvPr/>
        </p:nvSpPr>
        <p:spPr>
          <a:xfrm>
            <a:off x="7282727" y="1673352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7"/>
          <p:cNvSpPr/>
          <p:nvPr/>
        </p:nvSpPr>
        <p:spPr>
          <a:xfrm>
            <a:off x="7264439" y="2706225"/>
            <a:ext cx="146304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Trusted AI</a:t>
            </a:r>
            <a:endParaRPr sz="12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7"/>
          <p:cNvSpPr/>
          <p:nvPr/>
        </p:nvSpPr>
        <p:spPr>
          <a:xfrm>
            <a:off x="7264439" y="3243688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57294"/>
                </a:solidFill>
                <a:latin typeface="Poppins"/>
                <a:ea typeface="Poppins"/>
                <a:cs typeface="Poppins"/>
                <a:sym typeface="Poppins"/>
              </a:rPr>
              <a:t>EU AI Act compliance, accountability design and</a:t>
            </a:r>
            <a:endParaRPr sz="1000" b="0" i="0" u="none" strike="noStrike" cap="none">
              <a:solidFill>
                <a:srgbClr val="5572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6" name="Google Shape;666;p5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73627" y="21305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7"/>
          <p:cNvSpPr txBox="1"/>
          <p:nvPr/>
        </p:nvSpPr>
        <p:spPr>
          <a:xfrm>
            <a:off x="311700" y="226129"/>
            <a:ext cx="3359666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/>
              <a:buNone/>
            </a:pPr>
            <a:r>
              <a:rPr lang="en" sz="900" b="0" i="0" u="none" strike="noStrike" cap="none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03 | What we can do</a:t>
            </a:r>
            <a:endParaRPr sz="900" b="0" i="0" u="none" strike="noStrike" cap="none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8" name="Google Shape;668;p5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9668" y="2097180"/>
            <a:ext cx="364611" cy="364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5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6885" y="2128824"/>
            <a:ext cx="349200" cy="3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398CDE9-F0B6-B736-692E-9CC1C2B02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257F6C6-ED5C-8738-D093-989BF8EDA6D3}"/>
              </a:ext>
            </a:extLst>
          </p:cNvPr>
          <p:cNvSpPr txBox="1"/>
          <p:nvPr/>
        </p:nvSpPr>
        <p:spPr>
          <a:xfrm>
            <a:off x="500689" y="646770"/>
            <a:ext cx="4355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Approach 01</a:t>
            </a:r>
          </a:p>
          <a:p>
            <a:r>
              <a:rPr lang="en-GB" sz="28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Industry agnostic</a:t>
            </a:r>
          </a:p>
        </p:txBody>
      </p:sp>
    </p:spTree>
    <p:extLst>
      <p:ext uri="{BB962C8B-B14F-4D97-AF65-F5344CB8AC3E}">
        <p14:creationId xmlns:p14="http://schemas.microsoft.com/office/powerpoint/2010/main" val="133228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Poppins"/>
              <a:buNone/>
            </a:pPr>
            <a:r>
              <a:rPr lang="en"/>
              <a:t>Our propositions and offerings</a:t>
            </a:r>
            <a:endParaRPr/>
          </a:p>
        </p:txBody>
      </p:sp>
      <p:sp>
        <p:nvSpPr>
          <p:cNvPr id="1358" name="Google Shape;1358;p72"/>
          <p:cNvSpPr txBox="1">
            <a:spLocks noGrp="1"/>
          </p:cNvSpPr>
          <p:nvPr>
            <p:ph type="body" idx="2"/>
          </p:nvPr>
        </p:nvSpPr>
        <p:spPr>
          <a:xfrm>
            <a:off x="311700" y="226129"/>
            <a:ext cx="3359666" cy="15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03 | What we can do</a:t>
            </a:r>
            <a:endParaRPr/>
          </a:p>
        </p:txBody>
      </p:sp>
      <p:sp>
        <p:nvSpPr>
          <p:cNvPr id="1368" name="Google Shape;1368;p72"/>
          <p:cNvSpPr/>
          <p:nvPr/>
        </p:nvSpPr>
        <p:spPr>
          <a:xfrm>
            <a:off x="298450" y="2349344"/>
            <a:ext cx="1644181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238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AI Board Brief  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board-ready narrative and investment case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238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AI Value Hunt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top 5 use cases, sized and prioritized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238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Target Operating Model 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how to run AI at scale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238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Fractional AI leadership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2382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AI business case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investment case for your top 3 initiatives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72"/>
          <p:cNvSpPr/>
          <p:nvPr/>
        </p:nvSpPr>
        <p:spPr>
          <a:xfrm>
            <a:off x="3731691" y="2349344"/>
            <a:ext cx="1644181" cy="223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17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Automation opportunity scan</a:t>
            </a: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 Map &amp; prioritise workflows ripe for agentic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Agentic workflow delivery 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 named business process, automated end-to-end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Document intelligence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invoices, contracts, claims, onboarding paperwork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Contact center automation 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agentic customer service with live deflection metrics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Back-office process automation</a:t>
            </a:r>
            <a:b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finance, HR, procurement workflows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Orchestration platform build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buy vs build, integrated with existing 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72"/>
          <p:cNvSpPr/>
          <p:nvPr/>
        </p:nvSpPr>
        <p:spPr>
          <a:xfrm>
            <a:off x="2015783" y="2349344"/>
            <a:ext cx="1644181" cy="2131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17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MLOps maturity scan</a:t>
            </a:r>
            <a:br>
              <a:rPr lang="en" sz="7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Assess current portfolio, processes &amp;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Model-to-Production sprint 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live, monitored, with a business owner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Agentic AI copilot delivery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deployed for a named function (sales, service, legal, ops)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Predictive model accelerator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churn, pricing, demand forecasting, fraud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MLOps foundation build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tooling, pipelines, monitoring, retraining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AI cost optimization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Improvement potential &amp; recommendations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72"/>
          <p:cNvSpPr/>
          <p:nvPr/>
        </p:nvSpPr>
        <p:spPr>
          <a:xfrm>
            <a:off x="5447600" y="2349344"/>
            <a:ext cx="1644180" cy="191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Data readiness assessment 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Scoring, target state and migration plan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Databricks rollout 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live platform with first workloads migrated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Lakehouse migration 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off legacy warehouse, onto modern Azure/AWS stack</a:t>
            </a:r>
            <a:endParaRPr sz="700" b="0" i="0" u="none" strike="noStrike" cap="none">
              <a:solidFill>
                <a:srgbClr val="091F3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Unity Catalog &amp; data </a:t>
            </a: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governance rollout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Data mesh implementation</a:t>
            </a:r>
            <a:b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federated ownership, central standards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Platform cost optimization</a:t>
            </a: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30% TCO reduction, on average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72"/>
          <p:cNvSpPr/>
          <p:nvPr/>
        </p:nvSpPr>
        <p:spPr>
          <a:xfrm>
            <a:off x="7170358" y="2349344"/>
            <a:ext cx="167519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17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EU AI Act audit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ready for August 2026 compliance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EU / Sovereign Cloud migration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Open-source &amp; EU LLM </a:t>
            </a: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deployment / on-premise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Responsible AI framework</a:t>
            </a:r>
            <a:b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700" b="0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policies, guardrails, model registry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1747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91F3D"/>
              </a:buClr>
              <a:buSzPts val="700"/>
              <a:buFont typeface="Arial"/>
              <a:buChar char="•"/>
            </a:pPr>
            <a:r>
              <a:rPr lang="en" sz="700" b="1" i="0" u="none" strike="noStrike" cap="none">
                <a:solidFill>
                  <a:srgbClr val="091F3D"/>
                </a:solidFill>
                <a:latin typeface="Poppins"/>
                <a:ea typeface="Poppins"/>
                <a:cs typeface="Poppins"/>
                <a:sym typeface="Poppins"/>
              </a:rPr>
              <a:t>AI risk &amp; compliance audit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72"/>
          <p:cNvSpPr txBox="1"/>
          <p:nvPr/>
        </p:nvSpPr>
        <p:spPr>
          <a:xfrm>
            <a:off x="8387080" y="452120"/>
            <a:ext cx="44884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DRAFT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0" name="Google Shape;1380;p72"/>
          <p:cNvCxnSpPr/>
          <p:nvPr/>
        </p:nvCxnSpPr>
        <p:spPr>
          <a:xfrm>
            <a:off x="8387080" y="446552"/>
            <a:ext cx="44884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1" name="Google Shape;1381;p72"/>
          <p:cNvCxnSpPr/>
          <p:nvPr/>
        </p:nvCxnSpPr>
        <p:spPr>
          <a:xfrm>
            <a:off x="8387080" y="618002"/>
            <a:ext cx="44884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7" name="Google Shape;1387;p72"/>
          <p:cNvSpPr/>
          <p:nvPr/>
        </p:nvSpPr>
        <p:spPr>
          <a:xfrm>
            <a:off x="5453927" y="1096390"/>
            <a:ext cx="1645920" cy="11286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72"/>
          <p:cNvSpPr/>
          <p:nvPr/>
        </p:nvSpPr>
        <p:spPr>
          <a:xfrm>
            <a:off x="296711" y="1096390"/>
            <a:ext cx="1645920" cy="11286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72"/>
          <p:cNvSpPr/>
          <p:nvPr/>
        </p:nvSpPr>
        <p:spPr>
          <a:xfrm>
            <a:off x="406439" y="1173404"/>
            <a:ext cx="1426464" cy="16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0" name="Google Shape;1390;p7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439" y="1409071"/>
            <a:ext cx="244886" cy="24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72"/>
          <p:cNvSpPr/>
          <p:nvPr/>
        </p:nvSpPr>
        <p:spPr>
          <a:xfrm>
            <a:off x="388151" y="1748919"/>
            <a:ext cx="146304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Agentic Strategy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72"/>
          <p:cNvSpPr/>
          <p:nvPr/>
        </p:nvSpPr>
        <p:spPr>
          <a:xfrm>
            <a:off x="2015783" y="1096390"/>
            <a:ext cx="1645920" cy="11286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72"/>
          <p:cNvSpPr/>
          <p:nvPr/>
        </p:nvSpPr>
        <p:spPr>
          <a:xfrm>
            <a:off x="2125511" y="1173404"/>
            <a:ext cx="1426464" cy="16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72"/>
          <p:cNvSpPr/>
          <p:nvPr/>
        </p:nvSpPr>
        <p:spPr>
          <a:xfrm>
            <a:off x="2107223" y="1748919"/>
            <a:ext cx="127837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Agentic solutions in production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72"/>
          <p:cNvSpPr/>
          <p:nvPr/>
        </p:nvSpPr>
        <p:spPr>
          <a:xfrm>
            <a:off x="3734855" y="1096390"/>
            <a:ext cx="1645920" cy="11286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72"/>
          <p:cNvSpPr/>
          <p:nvPr/>
        </p:nvSpPr>
        <p:spPr>
          <a:xfrm>
            <a:off x="3844583" y="1173404"/>
            <a:ext cx="1426464" cy="16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7" name="Google Shape;1397;p7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4583" y="1409071"/>
            <a:ext cx="244886" cy="244886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72"/>
          <p:cNvSpPr/>
          <p:nvPr/>
        </p:nvSpPr>
        <p:spPr>
          <a:xfrm>
            <a:off x="3826295" y="1748919"/>
            <a:ext cx="14630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Intelligent</a:t>
            </a:r>
            <a:br>
              <a:rPr lang="en" sz="1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Workflows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72"/>
          <p:cNvSpPr/>
          <p:nvPr/>
        </p:nvSpPr>
        <p:spPr>
          <a:xfrm>
            <a:off x="5563655" y="1173404"/>
            <a:ext cx="1426464" cy="16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72"/>
          <p:cNvSpPr/>
          <p:nvPr/>
        </p:nvSpPr>
        <p:spPr>
          <a:xfrm>
            <a:off x="5545367" y="1748919"/>
            <a:ext cx="14630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Modern Data </a:t>
            </a:r>
            <a:br>
              <a:rPr lang="en" sz="1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Foundation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72"/>
          <p:cNvSpPr/>
          <p:nvPr/>
        </p:nvSpPr>
        <p:spPr>
          <a:xfrm>
            <a:off x="7172999" y="1096390"/>
            <a:ext cx="1645920" cy="11286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5EA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72"/>
          <p:cNvSpPr/>
          <p:nvPr/>
        </p:nvSpPr>
        <p:spPr>
          <a:xfrm>
            <a:off x="7282727" y="1173404"/>
            <a:ext cx="1426464" cy="16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72"/>
          <p:cNvSpPr/>
          <p:nvPr/>
        </p:nvSpPr>
        <p:spPr>
          <a:xfrm>
            <a:off x="7264439" y="1748919"/>
            <a:ext cx="146304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Trusted AI</a:t>
            </a:r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4" name="Google Shape;1404;p7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73627" y="1409071"/>
            <a:ext cx="244886" cy="244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7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9669" y="1346542"/>
            <a:ext cx="244800" cy="2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7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6885" y="1378185"/>
            <a:ext cx="244800" cy="2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47FD0-71C9-5E4A-D0D7-BFBE9002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40C27C9-9244-E912-23E5-1B1DC71E7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F9A322C4-275E-3F3E-C625-500D13F4F1BE}"/>
              </a:ext>
            </a:extLst>
          </p:cNvPr>
          <p:cNvSpPr txBox="1"/>
          <p:nvPr/>
        </p:nvSpPr>
        <p:spPr>
          <a:xfrm>
            <a:off x="500689" y="646770"/>
            <a:ext cx="41382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Approach 02</a:t>
            </a:r>
          </a:p>
          <a:p>
            <a:r>
              <a:rPr lang="en-GB" sz="28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Industry specific</a:t>
            </a:r>
          </a:p>
        </p:txBody>
      </p:sp>
    </p:spTree>
    <p:extLst>
      <p:ext uri="{BB962C8B-B14F-4D97-AF65-F5344CB8AC3E}">
        <p14:creationId xmlns:p14="http://schemas.microsoft.com/office/powerpoint/2010/main" val="2558475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2FB7A-9CAC-D71A-D8DA-DBD5C55F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10DA7D52-B331-8864-FD94-646D95E2ECB3}"/>
              </a:ext>
            </a:extLst>
          </p:cNvPr>
          <p:cNvSpPr/>
          <p:nvPr/>
        </p:nvSpPr>
        <p:spPr>
          <a:xfrm>
            <a:off x="201168" y="1664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From data foundations to intelligent financial services</a:t>
            </a:r>
            <a:endParaRPr lang="en-US" sz="8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itel 74">
            <a:extLst>
              <a:ext uri="{FF2B5EF4-FFF2-40B4-BE49-F238E27FC236}">
                <a16:creationId xmlns:a16="http://schemas.microsoft.com/office/drawing/2014/main" id="{B2C1747E-48F7-A569-3BB3-0E5CB720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95545"/>
            <a:ext cx="2475231" cy="615553"/>
          </a:xfrm>
        </p:spPr>
        <p:txBody>
          <a:bodyPr/>
          <a:lstStyle/>
          <a:p>
            <a:pPr marL="0" indent="0"/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Financial</a:t>
            </a:r>
            <a:b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Services</a:t>
            </a:r>
            <a:endParaRPr lang="en-GB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ijdelijke aanduiding voor tekst 76">
            <a:extLst>
              <a:ext uri="{FF2B5EF4-FFF2-40B4-BE49-F238E27FC236}">
                <a16:creationId xmlns:a16="http://schemas.microsoft.com/office/drawing/2014/main" id="{DB8750A8-9162-1EF3-8F44-F4C4D538B6F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/>
            <a:r>
              <a:rPr lang="en-GB" dirty="0"/>
              <a:t>03 | What we can do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4C50FDE-3D56-01C5-EFB8-47EC8F8591E9}"/>
              </a:ext>
            </a:extLst>
          </p:cNvPr>
          <p:cNvSpPr/>
          <p:nvPr/>
        </p:nvSpPr>
        <p:spPr>
          <a:xfrm>
            <a:off x="294132" y="2194560"/>
            <a:ext cx="2340864" cy="137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77388C-D90B-706E-53E5-2654FB2C2DCB}"/>
              </a:ext>
            </a:extLst>
          </p:cNvPr>
          <p:cNvSpPr/>
          <p:nvPr/>
        </p:nvSpPr>
        <p:spPr>
          <a:xfrm>
            <a:off x="201168" y="22860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chemeClr val="tx1">
                    <a:lumMod val="60000"/>
                    <a:lumOff val="40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SUB-SECTORS</a:t>
            </a:r>
            <a:endParaRPr lang="en-US" sz="750" dirty="0">
              <a:solidFill>
                <a:schemeClr val="tx1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E6E2463-A47E-B8CC-CE18-65365AE7E995}"/>
              </a:ext>
            </a:extLst>
          </p:cNvPr>
          <p:cNvSpPr/>
          <p:nvPr/>
        </p:nvSpPr>
        <p:spPr>
          <a:xfrm>
            <a:off x="201168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Banking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56958D7-4099-4AFE-D6E3-2BCD1D4AC118}"/>
              </a:ext>
            </a:extLst>
          </p:cNvPr>
          <p:cNvSpPr/>
          <p:nvPr/>
        </p:nvSpPr>
        <p:spPr>
          <a:xfrm>
            <a:off x="201168" y="27066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Insurance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1DD5F6-16EB-DC0E-0D19-E9A5C0AE79AD}"/>
              </a:ext>
            </a:extLst>
          </p:cNvPr>
          <p:cNvSpPr/>
          <p:nvPr/>
        </p:nvSpPr>
        <p:spPr>
          <a:xfrm>
            <a:off x="201168" y="2926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Asset Management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74F8C7E-172B-CAF5-008E-F0D493A8266B}"/>
              </a:ext>
            </a:extLst>
          </p:cNvPr>
          <p:cNvSpPr/>
          <p:nvPr/>
        </p:nvSpPr>
        <p:spPr>
          <a:xfrm>
            <a:off x="201168" y="31455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FinTech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7D013B5-AC91-A435-414B-8C2022E92F2F}"/>
              </a:ext>
            </a:extLst>
          </p:cNvPr>
          <p:cNvSpPr/>
          <p:nvPr/>
        </p:nvSpPr>
        <p:spPr>
          <a:xfrm>
            <a:off x="2999232" y="164592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KEY OFFERINGS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189B464-685A-F7A2-3350-58638F9DB41F}"/>
              </a:ext>
            </a:extLst>
          </p:cNvPr>
          <p:cNvSpPr/>
          <p:nvPr/>
        </p:nvSpPr>
        <p:spPr>
          <a:xfrm>
            <a:off x="2999232" y="365760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98" name="Groep 97">
            <a:extLst>
              <a:ext uri="{FF2B5EF4-FFF2-40B4-BE49-F238E27FC236}">
                <a16:creationId xmlns:a16="http://schemas.microsoft.com/office/drawing/2014/main" id="{AC47A009-BFAD-788C-A123-8FC76E6C0EFA}"/>
              </a:ext>
            </a:extLst>
          </p:cNvPr>
          <p:cNvGrpSpPr/>
          <p:nvPr/>
        </p:nvGrpSpPr>
        <p:grpSpPr>
          <a:xfrm>
            <a:off x="2999232" y="457200"/>
            <a:ext cx="5833068" cy="2103120"/>
            <a:chOff x="2999232" y="457200"/>
            <a:chExt cx="6080760" cy="2103120"/>
          </a:xfrm>
        </p:grpSpPr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D33B7EA9-C6B2-8601-F5A1-76155C49D4CB}"/>
                </a:ext>
              </a:extLst>
            </p:cNvPr>
            <p:cNvSpPr/>
            <p:nvPr/>
          </p:nvSpPr>
          <p:spPr>
            <a:xfrm>
              <a:off x="2999232" y="457200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DD300653-AFC7-BA55-0A1D-D3D560E37D19}"/>
                </a:ext>
              </a:extLst>
            </p:cNvPr>
            <p:cNvSpPr/>
            <p:nvPr/>
          </p:nvSpPr>
          <p:spPr>
            <a:xfrm>
              <a:off x="2999232" y="457200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4D8B8E56-FA57-AA99-F6CA-A4084C6D6C77}"/>
                </a:ext>
              </a:extLst>
            </p:cNvPr>
            <p:cNvSpPr/>
            <p:nvPr/>
          </p:nvSpPr>
          <p:spPr>
            <a:xfrm>
              <a:off x="3063240" y="502920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Fraud &amp; Transaction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Monitoring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26B5CE68-109E-DABE-541F-402FB1F5D72D}"/>
                </a:ext>
              </a:extLst>
            </p:cNvPr>
            <p:cNvSpPr/>
            <p:nvPr/>
          </p:nvSpPr>
          <p:spPr>
            <a:xfrm>
              <a:off x="3063240" y="841248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Real-time anomaly detection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442150B0-E09A-6613-0EAF-FBDDEFA7A5B1}"/>
                </a:ext>
              </a:extLst>
            </p:cNvPr>
            <p:cNvSpPr/>
            <p:nvPr/>
          </p:nvSpPr>
          <p:spPr>
            <a:xfrm>
              <a:off x="6085332" y="457200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A9B8CB27-1A40-2960-10C3-99EE8F10690E}"/>
                </a:ext>
              </a:extLst>
            </p:cNvPr>
            <p:cNvSpPr/>
            <p:nvPr/>
          </p:nvSpPr>
          <p:spPr>
            <a:xfrm>
              <a:off x="6085332" y="457200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D8D8FE43-EFA5-910C-28B9-B19CAEEA400C}"/>
                </a:ext>
              </a:extLst>
            </p:cNvPr>
            <p:cNvSpPr/>
            <p:nvPr/>
          </p:nvSpPr>
          <p:spPr>
            <a:xfrm>
              <a:off x="6149340" y="502920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Credit Risk &amp;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Lending Engines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FE30BAEA-55EB-16F6-0B8B-654242EF9190}"/>
                </a:ext>
              </a:extLst>
            </p:cNvPr>
            <p:cNvSpPr/>
            <p:nvPr/>
          </p:nvSpPr>
          <p:spPr>
            <a:xfrm>
              <a:off x="6149340" y="841248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Behavioural scoring, faster decisions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77F0A74B-340E-7C28-A07D-975B14AFC670}"/>
                </a:ext>
              </a:extLst>
            </p:cNvPr>
            <p:cNvSpPr/>
            <p:nvPr/>
          </p:nvSpPr>
          <p:spPr>
            <a:xfrm>
              <a:off x="2999232" y="1179576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EF0BC4DA-1029-7446-E49A-E7327B9FD9FE}"/>
                </a:ext>
              </a:extLst>
            </p:cNvPr>
            <p:cNvSpPr/>
            <p:nvPr/>
          </p:nvSpPr>
          <p:spPr>
            <a:xfrm>
              <a:off x="2999232" y="1179576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D6742AA4-B6E5-2645-5682-9CC46EFBC372}"/>
                </a:ext>
              </a:extLst>
            </p:cNvPr>
            <p:cNvSpPr/>
            <p:nvPr/>
          </p:nvSpPr>
          <p:spPr>
            <a:xfrm>
              <a:off x="3063240" y="1225296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KYC / CDD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AI Agents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146BBA72-94FC-661E-0E1A-300C8E541C0E}"/>
                </a:ext>
              </a:extLst>
            </p:cNvPr>
            <p:cNvSpPr/>
            <p:nvPr/>
          </p:nvSpPr>
          <p:spPr>
            <a:xfrm>
              <a:off x="3063240" y="1563624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Scalable compliance automation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Shape 30">
              <a:extLst>
                <a:ext uri="{FF2B5EF4-FFF2-40B4-BE49-F238E27FC236}">
                  <a16:creationId xmlns:a16="http://schemas.microsoft.com/office/drawing/2014/main" id="{52EC067F-0B95-A7CA-E00C-736857C1A489}"/>
                </a:ext>
              </a:extLst>
            </p:cNvPr>
            <p:cNvSpPr/>
            <p:nvPr/>
          </p:nvSpPr>
          <p:spPr>
            <a:xfrm>
              <a:off x="6085332" y="1179576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7B6E84D2-6C68-C8E3-939B-AC56B19EB3D4}"/>
                </a:ext>
              </a:extLst>
            </p:cNvPr>
            <p:cNvSpPr/>
            <p:nvPr/>
          </p:nvSpPr>
          <p:spPr>
            <a:xfrm>
              <a:off x="6085332" y="1179576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3C674886-2EC7-A476-98A1-6356E0E619EA}"/>
                </a:ext>
              </a:extLst>
            </p:cNvPr>
            <p:cNvSpPr/>
            <p:nvPr/>
          </p:nvSpPr>
          <p:spPr>
            <a:xfrm>
              <a:off x="6149340" y="1225296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Regulatory Reporting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Automation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2AC7B44A-ADD9-C650-D697-F6874583DCBA}"/>
                </a:ext>
              </a:extLst>
            </p:cNvPr>
            <p:cNvSpPr/>
            <p:nvPr/>
          </p:nvSpPr>
          <p:spPr>
            <a:xfrm>
              <a:off x="6149340" y="1563624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ESG, Solvency, risk pipelines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BC25510B-82DC-306D-A2E1-225952589AB3}"/>
                </a:ext>
              </a:extLst>
            </p:cNvPr>
            <p:cNvSpPr/>
            <p:nvPr/>
          </p:nvSpPr>
          <p:spPr>
            <a:xfrm>
              <a:off x="2999232" y="1901952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52F5AD95-D2EC-FCC4-A738-086F2F74D198}"/>
                </a:ext>
              </a:extLst>
            </p:cNvPr>
            <p:cNvSpPr/>
            <p:nvPr/>
          </p:nvSpPr>
          <p:spPr>
            <a:xfrm>
              <a:off x="2999232" y="1901952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E5381EBF-75D1-4366-60B0-CA717D2D473C}"/>
                </a:ext>
              </a:extLst>
            </p:cNvPr>
            <p:cNvSpPr/>
            <p:nvPr/>
          </p:nvSpPr>
          <p:spPr>
            <a:xfrm>
              <a:off x="3063240" y="1947672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Risk &amp; Scenario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Modelling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D88C0E8A-AD1B-5424-F244-BC984E12639E}"/>
                </a:ext>
              </a:extLst>
            </p:cNvPr>
            <p:cNvSpPr/>
            <p:nvPr/>
          </p:nvSpPr>
          <p:spPr>
            <a:xfrm>
              <a:off x="3063240" y="2286000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Explainable, audit-ready AI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474F245B-028B-C494-72CF-04EFE6756095}"/>
                </a:ext>
              </a:extLst>
            </p:cNvPr>
            <p:cNvSpPr/>
            <p:nvPr/>
          </p:nvSpPr>
          <p:spPr>
            <a:xfrm>
              <a:off x="6085332" y="1901952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7569FDD2-5099-46F2-F541-FEDF689F137B}"/>
                </a:ext>
              </a:extLst>
            </p:cNvPr>
            <p:cNvSpPr/>
            <p:nvPr/>
          </p:nvSpPr>
          <p:spPr>
            <a:xfrm>
              <a:off x="6085332" y="1901952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40DEAD9A-F71D-45E8-9FEF-E60B3F0A626E}"/>
                </a:ext>
              </a:extLst>
            </p:cNvPr>
            <p:cNvSpPr/>
            <p:nvPr/>
          </p:nvSpPr>
          <p:spPr>
            <a:xfrm>
              <a:off x="6149340" y="1947672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AI Assistants for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Financial Professionals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FA5EB973-982C-16B7-D729-10A74FFBECDF}"/>
                </a:ext>
              </a:extLst>
            </p:cNvPr>
            <p:cNvSpPr/>
            <p:nvPr/>
          </p:nvSpPr>
          <p:spPr>
            <a:xfrm>
              <a:off x="6149340" y="2286000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Copilots, semantic search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58" name="Text 56">
            <a:extLst>
              <a:ext uri="{FF2B5EF4-FFF2-40B4-BE49-F238E27FC236}">
                <a16:creationId xmlns:a16="http://schemas.microsoft.com/office/drawing/2014/main" id="{0CA08D96-E103-20FF-D8F3-09511E49A0E5}"/>
              </a:ext>
            </a:extLst>
          </p:cNvPr>
          <p:cNvSpPr/>
          <p:nvPr/>
        </p:nvSpPr>
        <p:spPr>
          <a:xfrm>
            <a:off x="2999232" y="3538728"/>
            <a:ext cx="6080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IMPACT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356CD02A-AC06-7B40-C1BE-54B3C82C4F3F}"/>
              </a:ext>
            </a:extLst>
          </p:cNvPr>
          <p:cNvSpPr/>
          <p:nvPr/>
        </p:nvSpPr>
        <p:spPr>
          <a:xfrm>
            <a:off x="2999232" y="3703320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99" name="Groep 98">
            <a:extLst>
              <a:ext uri="{FF2B5EF4-FFF2-40B4-BE49-F238E27FC236}">
                <a16:creationId xmlns:a16="http://schemas.microsoft.com/office/drawing/2014/main" id="{9242ADF0-3BF6-F4AA-58C0-4C4CC00D6ADD}"/>
              </a:ext>
            </a:extLst>
          </p:cNvPr>
          <p:cNvGrpSpPr/>
          <p:nvPr/>
        </p:nvGrpSpPr>
        <p:grpSpPr>
          <a:xfrm>
            <a:off x="2999232" y="3776472"/>
            <a:ext cx="5833068" cy="960120"/>
            <a:chOff x="2999232" y="3776472"/>
            <a:chExt cx="6080760" cy="960120"/>
          </a:xfrm>
        </p:grpSpPr>
        <p:sp>
          <p:nvSpPr>
            <p:cNvPr id="60" name="Shape 58">
              <a:extLst>
                <a:ext uri="{FF2B5EF4-FFF2-40B4-BE49-F238E27FC236}">
                  <a16:creationId xmlns:a16="http://schemas.microsoft.com/office/drawing/2014/main" id="{3F6E37B0-DB98-2922-1FA6-3A9795828179}"/>
                </a:ext>
              </a:extLst>
            </p:cNvPr>
            <p:cNvSpPr/>
            <p:nvPr/>
          </p:nvSpPr>
          <p:spPr>
            <a:xfrm>
              <a:off x="2999232" y="3776472"/>
              <a:ext cx="1990344" cy="960120"/>
            </a:xfrm>
            <a:prstGeom prst="roundRect">
              <a:avLst/>
            </a:prstGeom>
            <a:solidFill>
              <a:srgbClr val="EBF1FE"/>
            </a:solidFill>
            <a:ln w="12700">
              <a:solidFill>
                <a:srgbClr val="B8CAFD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" name="Text 59">
              <a:extLst>
                <a:ext uri="{FF2B5EF4-FFF2-40B4-BE49-F238E27FC236}">
                  <a16:creationId xmlns:a16="http://schemas.microsoft.com/office/drawing/2014/main" id="{CA0D1FEB-D0C5-3CA2-7A5F-911109D1BF5F}"/>
                </a:ext>
              </a:extLst>
            </p:cNvPr>
            <p:cNvSpPr/>
            <p:nvPr/>
          </p:nvSpPr>
          <p:spPr>
            <a:xfrm>
              <a:off x="3063240" y="3822192"/>
              <a:ext cx="1880616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B43D4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Global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" name="Text 60">
              <a:extLst>
                <a:ext uri="{FF2B5EF4-FFF2-40B4-BE49-F238E27FC236}">
                  <a16:creationId xmlns:a16="http://schemas.microsoft.com/office/drawing/2014/main" id="{0F2DEB75-27DC-EB22-4A7B-74440460B04F}"/>
                </a:ext>
              </a:extLst>
            </p:cNvPr>
            <p:cNvSpPr/>
            <p:nvPr/>
          </p:nvSpPr>
          <p:spPr>
            <a:xfrm>
              <a:off x="3063240" y="4123944"/>
              <a:ext cx="1880616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customer segmentation for Rabobank's transaction monitoring — sharper thresholds, full auditability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8EEFCF32-FA80-9A50-CBF7-70277DB5A1F8}"/>
                </a:ext>
              </a:extLst>
            </p:cNvPr>
            <p:cNvSpPr/>
            <p:nvPr/>
          </p:nvSpPr>
          <p:spPr>
            <a:xfrm>
              <a:off x="5044440" y="3776472"/>
              <a:ext cx="1990344" cy="960120"/>
            </a:xfrm>
            <a:prstGeom prst="roundRect">
              <a:avLst/>
            </a:prstGeom>
            <a:solidFill>
              <a:srgbClr val="EBF1FE"/>
            </a:solidFill>
            <a:ln w="12700">
              <a:solidFill>
                <a:srgbClr val="B8CAFD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" name="Text 62">
              <a:extLst>
                <a:ext uri="{FF2B5EF4-FFF2-40B4-BE49-F238E27FC236}">
                  <a16:creationId xmlns:a16="http://schemas.microsoft.com/office/drawing/2014/main" id="{B37BE699-F577-3160-08B7-983182ED7C61}"/>
                </a:ext>
              </a:extLst>
            </p:cNvPr>
            <p:cNvSpPr/>
            <p:nvPr/>
          </p:nvSpPr>
          <p:spPr>
            <a:xfrm>
              <a:off x="5108448" y="3822192"/>
              <a:ext cx="1880616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B43D4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Automated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" name="Text 63">
              <a:extLst>
                <a:ext uri="{FF2B5EF4-FFF2-40B4-BE49-F238E27FC236}">
                  <a16:creationId xmlns:a16="http://schemas.microsoft.com/office/drawing/2014/main" id="{AE88FCB5-3879-2E48-DB5E-61782E68A25E}"/>
                </a:ext>
              </a:extLst>
            </p:cNvPr>
            <p:cNvSpPr/>
            <p:nvPr/>
          </p:nvSpPr>
          <p:spPr>
            <a:xfrm>
              <a:off x="5108448" y="4123944"/>
              <a:ext cx="1880616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Solvency II &amp; risk reporting for ASR: reduced errors, improved performance, scalable foundation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6" name="Shape 64">
              <a:extLst>
                <a:ext uri="{FF2B5EF4-FFF2-40B4-BE49-F238E27FC236}">
                  <a16:creationId xmlns:a16="http://schemas.microsoft.com/office/drawing/2014/main" id="{E58DDBF6-26EB-D9F2-1789-53A190873722}"/>
                </a:ext>
              </a:extLst>
            </p:cNvPr>
            <p:cNvSpPr/>
            <p:nvPr/>
          </p:nvSpPr>
          <p:spPr>
            <a:xfrm>
              <a:off x="7089648" y="3776472"/>
              <a:ext cx="1990344" cy="960120"/>
            </a:xfrm>
            <a:prstGeom prst="roundRect">
              <a:avLst/>
            </a:prstGeom>
            <a:solidFill>
              <a:srgbClr val="EBF1FE"/>
            </a:solidFill>
            <a:ln w="12700">
              <a:solidFill>
                <a:srgbClr val="B8CAFD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7" name="Text 65">
              <a:extLst>
                <a:ext uri="{FF2B5EF4-FFF2-40B4-BE49-F238E27FC236}">
                  <a16:creationId xmlns:a16="http://schemas.microsoft.com/office/drawing/2014/main" id="{929156A2-4D1B-279C-83ED-88086437930E}"/>
                </a:ext>
              </a:extLst>
            </p:cNvPr>
            <p:cNvSpPr/>
            <p:nvPr/>
          </p:nvSpPr>
          <p:spPr>
            <a:xfrm>
              <a:off x="7153656" y="3822192"/>
              <a:ext cx="1880616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B43D4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3 months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D444499F-FAF1-68F8-78A1-0E17273353A5}"/>
                </a:ext>
              </a:extLst>
            </p:cNvPr>
            <p:cNvSpPr/>
            <p:nvPr/>
          </p:nvSpPr>
          <p:spPr>
            <a:xfrm>
              <a:off x="7153656" y="4123944"/>
              <a:ext cx="1880616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to production-ready GenAI platform at Nationale-Nederlanden — multi-tenant, secure, scalable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83" name="Google Shape;682;p1" descr="Rabobank logo - Sociale media en logos iconen">
            <a:extLst>
              <a:ext uri="{FF2B5EF4-FFF2-40B4-BE49-F238E27FC236}">
                <a16:creationId xmlns:a16="http://schemas.microsoft.com/office/drawing/2014/main" id="{028CA351-137A-4B68-F383-11155098812F}"/>
              </a:ext>
            </a:extLst>
          </p:cNvPr>
          <p:cNvPicPr preferRelativeResize="0"/>
          <p:nvPr/>
        </p:nvPicPr>
        <p:blipFill rotWithShape="1">
          <a:blip r:embed="rId3">
            <a:alphaModFix/>
            <a:grayscl/>
          </a:blip>
          <a:srcRect/>
          <a:stretch/>
        </p:blipFill>
        <p:spPr>
          <a:xfrm>
            <a:off x="3015235" y="2868168"/>
            <a:ext cx="672684" cy="336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690;p1" descr="LobbyMap APG">
            <a:extLst>
              <a:ext uri="{FF2B5EF4-FFF2-40B4-BE49-F238E27FC236}">
                <a16:creationId xmlns:a16="http://schemas.microsoft.com/office/drawing/2014/main" id="{9311B411-052D-EC70-5B59-58162F401453}"/>
              </a:ext>
            </a:extLst>
          </p:cNvPr>
          <p:cNvPicPr preferRelativeResize="0"/>
          <p:nvPr/>
        </p:nvPicPr>
        <p:blipFill rotWithShape="1">
          <a:blip r:embed="rId4">
            <a:alphaModFix/>
            <a:grayscl/>
          </a:blip>
          <a:srcRect/>
          <a:stretch/>
        </p:blipFill>
        <p:spPr>
          <a:xfrm>
            <a:off x="4487130" y="3173524"/>
            <a:ext cx="668338" cy="334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16;p83" title="BRIDGE FUND.png">
            <a:extLst>
              <a:ext uri="{FF2B5EF4-FFF2-40B4-BE49-F238E27FC236}">
                <a16:creationId xmlns:a16="http://schemas.microsoft.com/office/drawing/2014/main" id="{4246C82B-5B02-4D99-4C04-57CDED40310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40022" y="2907622"/>
            <a:ext cx="600484" cy="25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24;p83" title="ING.png">
            <a:extLst>
              <a:ext uri="{FF2B5EF4-FFF2-40B4-BE49-F238E27FC236}">
                <a16:creationId xmlns:a16="http://schemas.microsoft.com/office/drawing/2014/main" id="{4B16F102-3D47-CAF6-AD3C-C645D65F6D8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25582" y="2905570"/>
            <a:ext cx="600484" cy="26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8;p83" title="NN.png">
            <a:extLst>
              <a:ext uri="{FF2B5EF4-FFF2-40B4-BE49-F238E27FC236}">
                <a16:creationId xmlns:a16="http://schemas.microsoft.com/office/drawing/2014/main" id="{6CDFD9CC-6B05-A8F5-7B5F-78039669D52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94990" y="3209840"/>
            <a:ext cx="600484" cy="26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7;p83" title="VAN LANSCHOT.png">
            <a:extLst>
              <a:ext uri="{FF2B5EF4-FFF2-40B4-BE49-F238E27FC236}">
                <a16:creationId xmlns:a16="http://schemas.microsoft.com/office/drawing/2014/main" id="{ADC22FA2-62EB-8A10-0E79-A77F33F806F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1876" y="2907622"/>
            <a:ext cx="600484" cy="25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52;p83" title="ABN AMRO.png">
            <a:extLst>
              <a:ext uri="{FF2B5EF4-FFF2-40B4-BE49-F238E27FC236}">
                <a16:creationId xmlns:a16="http://schemas.microsoft.com/office/drawing/2014/main" id="{9A9D91DB-24E4-BA46-5A04-5C6060BDC05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63729" y="2907622"/>
            <a:ext cx="600484" cy="25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3;p83" title="a.s.r.png">
            <a:extLst>
              <a:ext uri="{FF2B5EF4-FFF2-40B4-BE49-F238E27FC236}">
                <a16:creationId xmlns:a16="http://schemas.microsoft.com/office/drawing/2014/main" id="{B7263470-E3E9-863A-376D-92E450E7DF3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l="25511" r="25511"/>
          <a:stretch>
            <a:fillRect/>
          </a:stretch>
        </p:blipFill>
        <p:spPr>
          <a:xfrm>
            <a:off x="5572774" y="3209691"/>
            <a:ext cx="299134" cy="26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55;p83" title="ARAG.png">
            <a:extLst>
              <a:ext uri="{FF2B5EF4-FFF2-40B4-BE49-F238E27FC236}">
                <a16:creationId xmlns:a16="http://schemas.microsoft.com/office/drawing/2014/main" id="{6C613302-BE83-4D7E-DE84-38D74A0C3DC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 l="26357" r="26357"/>
          <a:stretch>
            <a:fillRect/>
          </a:stretch>
        </p:blipFill>
        <p:spPr>
          <a:xfrm>
            <a:off x="6542596" y="3211362"/>
            <a:ext cx="283948" cy="26153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ijdelijke aanduiding voor dianummer 99">
            <a:extLst>
              <a:ext uri="{FF2B5EF4-FFF2-40B4-BE49-F238E27FC236}">
                <a16:creationId xmlns:a16="http://schemas.microsoft.com/office/drawing/2014/main" id="{278A6A08-545F-E977-58E5-706BD74834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sp>
        <p:nvSpPr>
          <p:cNvPr id="101" name="Text 42">
            <a:extLst>
              <a:ext uri="{FF2B5EF4-FFF2-40B4-BE49-F238E27FC236}">
                <a16:creationId xmlns:a16="http://schemas.microsoft.com/office/drawing/2014/main" id="{363185A7-21A4-E77B-6DE1-230D85D4C722}"/>
              </a:ext>
            </a:extLst>
          </p:cNvPr>
          <p:cNvSpPr/>
          <p:nvPr/>
        </p:nvSpPr>
        <p:spPr>
          <a:xfrm>
            <a:off x="2999232" y="265480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WE WORK WITH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Shape 43">
            <a:extLst>
              <a:ext uri="{FF2B5EF4-FFF2-40B4-BE49-F238E27FC236}">
                <a16:creationId xmlns:a16="http://schemas.microsoft.com/office/drawing/2014/main" id="{3D3CACA6-486B-E724-DCCD-B593D2C017FE}"/>
              </a:ext>
            </a:extLst>
          </p:cNvPr>
          <p:cNvSpPr/>
          <p:nvPr/>
        </p:nvSpPr>
        <p:spPr>
          <a:xfrm>
            <a:off x="2999232" y="2837688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Shape 13">
            <a:extLst>
              <a:ext uri="{FF2B5EF4-FFF2-40B4-BE49-F238E27FC236}">
                <a16:creationId xmlns:a16="http://schemas.microsoft.com/office/drawing/2014/main" id="{7EDF0B26-236A-5859-B088-846CDE11C522}"/>
              </a:ext>
            </a:extLst>
          </p:cNvPr>
          <p:cNvSpPr/>
          <p:nvPr/>
        </p:nvSpPr>
        <p:spPr>
          <a:xfrm>
            <a:off x="294132" y="3715512"/>
            <a:ext cx="2340864" cy="137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4">
            <a:extLst>
              <a:ext uri="{FF2B5EF4-FFF2-40B4-BE49-F238E27FC236}">
                <a16:creationId xmlns:a16="http://schemas.microsoft.com/office/drawing/2014/main" id="{A9785D81-1828-A2ED-5571-D532F22C2D91}"/>
              </a:ext>
            </a:extLst>
          </p:cNvPr>
          <p:cNvSpPr/>
          <p:nvPr/>
        </p:nvSpPr>
        <p:spPr>
          <a:xfrm>
            <a:off x="201168" y="38069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chemeClr val="tx1">
                    <a:lumMod val="60000"/>
                    <a:lumOff val="40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TECHNOLOGY ECOSYSTEM</a:t>
            </a:r>
            <a:endParaRPr lang="en-US" sz="750" dirty="0">
              <a:solidFill>
                <a:schemeClr val="tx1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5">
            <a:extLst>
              <a:ext uri="{FF2B5EF4-FFF2-40B4-BE49-F238E27FC236}">
                <a16:creationId xmlns:a16="http://schemas.microsoft.com/office/drawing/2014/main" id="{57E9CAB7-13A9-FCEC-078C-262549C55323}"/>
              </a:ext>
            </a:extLst>
          </p:cNvPr>
          <p:cNvSpPr/>
          <p:nvPr/>
        </p:nvSpPr>
        <p:spPr>
          <a:xfrm>
            <a:off x="201168" y="4008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Azure  ·  Databricks  ·  Snowflake  ·  AWS  ·  Google Cloud</a:t>
            </a:r>
            <a:endParaRPr lang="en-US" sz="8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FF9FFC7A-0DF6-DBA5-8BA5-2779C408C9B5}"/>
              </a:ext>
            </a:extLst>
          </p:cNvPr>
          <p:cNvSpPr/>
          <p:nvPr/>
        </p:nvSpPr>
        <p:spPr>
          <a:xfrm>
            <a:off x="201168" y="596409"/>
            <a:ext cx="2468880" cy="1739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We make AI work in…</a:t>
            </a:r>
            <a:endParaRPr lang="en-US" sz="8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81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D2A23-1442-0EE9-17C7-DEF0C216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172778BA-CBA9-14E6-462F-54501D9F3C1C}"/>
              </a:ext>
            </a:extLst>
          </p:cNvPr>
          <p:cNvSpPr/>
          <p:nvPr/>
        </p:nvSpPr>
        <p:spPr>
          <a:xfrm>
            <a:off x="201168" y="1664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GB" sz="850" i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From grid operations to AI-enabled critical infrastructure</a:t>
            </a:r>
          </a:p>
        </p:txBody>
      </p:sp>
      <p:sp>
        <p:nvSpPr>
          <p:cNvPr id="75" name="Titel 74">
            <a:extLst>
              <a:ext uri="{FF2B5EF4-FFF2-40B4-BE49-F238E27FC236}">
                <a16:creationId xmlns:a16="http://schemas.microsoft.com/office/drawing/2014/main" id="{3904EE20-41EB-C20B-2EFB-B66EDADB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95545"/>
            <a:ext cx="2475231" cy="615553"/>
          </a:xfrm>
        </p:spPr>
        <p:txBody>
          <a:bodyPr/>
          <a:lstStyle/>
          <a:p>
            <a:pPr marL="0" indent="0"/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Energy, Utilities</a:t>
            </a:r>
            <a:b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</a:b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&amp; Telco</a:t>
            </a: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A5DEF17-9024-686B-9A25-DAB942764D7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/>
            <a:r>
              <a:rPr lang="en-GB" dirty="0"/>
              <a:t>03 | What we can do</a:t>
            </a:r>
          </a:p>
        </p:txBody>
      </p:sp>
      <p:sp>
        <p:nvSpPr>
          <p:cNvPr id="100" name="Tijdelijke aanduiding voor dianummer 99">
            <a:extLst>
              <a:ext uri="{FF2B5EF4-FFF2-40B4-BE49-F238E27FC236}">
                <a16:creationId xmlns:a16="http://schemas.microsoft.com/office/drawing/2014/main" id="{B1F55266-E7AA-607D-C03A-6C38581830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36D838A-6DA7-5335-E2BF-E3A6E80AA5AF}"/>
              </a:ext>
            </a:extLst>
          </p:cNvPr>
          <p:cNvSpPr/>
          <p:nvPr/>
        </p:nvSpPr>
        <p:spPr>
          <a:xfrm>
            <a:off x="294132" y="2194560"/>
            <a:ext cx="2340864" cy="137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F1E69E-3679-9873-AA96-D77C96FBFE9B}"/>
              </a:ext>
            </a:extLst>
          </p:cNvPr>
          <p:cNvSpPr/>
          <p:nvPr/>
        </p:nvSpPr>
        <p:spPr>
          <a:xfrm>
            <a:off x="201168" y="22860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SUB-SECTORS</a:t>
            </a:r>
            <a:endParaRPr lang="en-US" sz="7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A9363F-8E78-3612-C0AC-76B0E24CE8DE}"/>
              </a:ext>
            </a:extLst>
          </p:cNvPr>
          <p:cNvSpPr/>
          <p:nvPr/>
        </p:nvSpPr>
        <p:spPr>
          <a:xfrm>
            <a:off x="201168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Grid Operators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6FD4DA7-BEA7-B2F0-5C93-9F8169D4985B}"/>
              </a:ext>
            </a:extLst>
          </p:cNvPr>
          <p:cNvSpPr/>
          <p:nvPr/>
        </p:nvSpPr>
        <p:spPr>
          <a:xfrm>
            <a:off x="201168" y="27066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Energy Companies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2BC39C0-6781-45C0-A4AE-0C25673252B9}"/>
              </a:ext>
            </a:extLst>
          </p:cNvPr>
          <p:cNvSpPr/>
          <p:nvPr/>
        </p:nvSpPr>
        <p:spPr>
          <a:xfrm>
            <a:off x="201168" y="2926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Telecom Providers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4EC0BE-C669-2DEC-035E-6A014C092D7C}"/>
              </a:ext>
            </a:extLst>
          </p:cNvPr>
          <p:cNvSpPr/>
          <p:nvPr/>
        </p:nvSpPr>
        <p:spPr>
          <a:xfrm>
            <a:off x="2999232" y="164592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KEY OFFERINGS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A0CBCE1-0A88-EADD-CA24-9B1464791FF4}"/>
              </a:ext>
            </a:extLst>
          </p:cNvPr>
          <p:cNvSpPr/>
          <p:nvPr/>
        </p:nvSpPr>
        <p:spPr>
          <a:xfrm>
            <a:off x="2999232" y="365760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587F2E4-286A-88F7-1301-8B73D506EC23}"/>
              </a:ext>
            </a:extLst>
          </p:cNvPr>
          <p:cNvSpPr/>
          <p:nvPr/>
        </p:nvSpPr>
        <p:spPr>
          <a:xfrm>
            <a:off x="2999232" y="265480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WE WORK WITH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7BED607B-1ECA-1C21-BFCD-97598D0A9F54}"/>
              </a:ext>
            </a:extLst>
          </p:cNvPr>
          <p:cNvSpPr/>
          <p:nvPr/>
        </p:nvSpPr>
        <p:spPr>
          <a:xfrm>
            <a:off x="2999232" y="2837688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EA5C21BD-6C08-DFF8-9149-1F789D04BC7E}"/>
              </a:ext>
            </a:extLst>
          </p:cNvPr>
          <p:cNvSpPr/>
          <p:nvPr/>
        </p:nvSpPr>
        <p:spPr>
          <a:xfrm>
            <a:off x="2999232" y="3537790"/>
            <a:ext cx="6080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IMPACT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C9550661-6D3A-B52A-2499-990256CDB7B9}"/>
              </a:ext>
            </a:extLst>
          </p:cNvPr>
          <p:cNvSpPr/>
          <p:nvPr/>
        </p:nvSpPr>
        <p:spPr>
          <a:xfrm>
            <a:off x="2999232" y="3703320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51" name="Groep 50">
            <a:extLst>
              <a:ext uri="{FF2B5EF4-FFF2-40B4-BE49-F238E27FC236}">
                <a16:creationId xmlns:a16="http://schemas.microsoft.com/office/drawing/2014/main" id="{4E40DB11-E100-7048-79DD-7B1FED782F25}"/>
              </a:ext>
            </a:extLst>
          </p:cNvPr>
          <p:cNvGrpSpPr/>
          <p:nvPr/>
        </p:nvGrpSpPr>
        <p:grpSpPr>
          <a:xfrm>
            <a:off x="2999232" y="457200"/>
            <a:ext cx="5836793" cy="2103120"/>
            <a:chOff x="2999232" y="457200"/>
            <a:chExt cx="6080760" cy="2103120"/>
          </a:xfrm>
        </p:grpSpPr>
        <p:sp>
          <p:nvSpPr>
            <p:cNvPr id="52" name="Shape 17"/>
            <p:cNvSpPr/>
            <p:nvPr/>
          </p:nvSpPr>
          <p:spPr>
            <a:xfrm>
              <a:off x="2999232" y="457200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" name="Shape 18"/>
            <p:cNvSpPr/>
            <p:nvPr/>
          </p:nvSpPr>
          <p:spPr>
            <a:xfrm>
              <a:off x="2999232" y="457200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" name="Text 19"/>
            <p:cNvSpPr/>
            <p:nvPr/>
          </p:nvSpPr>
          <p:spPr>
            <a:xfrm>
              <a:off x="3063240" y="502920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Predictive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Maintenance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" name="Text 20"/>
            <p:cNvSpPr/>
            <p:nvPr/>
          </p:nvSpPr>
          <p:spPr>
            <a:xfrm>
              <a:off x="3063240" y="841248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Sensor data + time-series models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6" name="Shape 21"/>
            <p:cNvSpPr/>
            <p:nvPr/>
          </p:nvSpPr>
          <p:spPr>
            <a:xfrm>
              <a:off x="6085332" y="457200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" name="Shape 22"/>
            <p:cNvSpPr/>
            <p:nvPr/>
          </p:nvSpPr>
          <p:spPr>
            <a:xfrm>
              <a:off x="6085332" y="457200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9" name="Text 23"/>
            <p:cNvSpPr/>
            <p:nvPr/>
          </p:nvSpPr>
          <p:spPr>
            <a:xfrm>
              <a:off x="6149340" y="502920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Asset &amp; Grid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Monitoring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0" name="Text 24"/>
            <p:cNvSpPr/>
            <p:nvPr/>
          </p:nvSpPr>
          <p:spPr>
            <a:xfrm>
              <a:off x="6149340" y="841248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Real-time deviation detection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1" name="Shape 25"/>
            <p:cNvSpPr/>
            <p:nvPr/>
          </p:nvSpPr>
          <p:spPr>
            <a:xfrm>
              <a:off x="2999232" y="1179576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2" name="Shape 26"/>
            <p:cNvSpPr/>
            <p:nvPr/>
          </p:nvSpPr>
          <p:spPr>
            <a:xfrm>
              <a:off x="2999232" y="1179576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3" name="Text 27"/>
            <p:cNvSpPr/>
            <p:nvPr/>
          </p:nvSpPr>
          <p:spPr>
            <a:xfrm>
              <a:off x="3063240" y="1225296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Grid Congestion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Management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4" name="Text 28"/>
            <p:cNvSpPr/>
            <p:nvPr/>
          </p:nvSpPr>
          <p:spPr>
            <a:xfrm>
              <a:off x="3063240" y="1563624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Probability scores + action scenarios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6" name="Shape 29"/>
            <p:cNvSpPr/>
            <p:nvPr/>
          </p:nvSpPr>
          <p:spPr>
            <a:xfrm>
              <a:off x="6085332" y="1179576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8" name="Shape 30"/>
            <p:cNvSpPr/>
            <p:nvPr/>
          </p:nvSpPr>
          <p:spPr>
            <a:xfrm>
              <a:off x="6085332" y="1179576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9" name="Text 31"/>
            <p:cNvSpPr/>
            <p:nvPr/>
          </p:nvSpPr>
          <p:spPr>
            <a:xfrm>
              <a:off x="6149340" y="1225296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Demand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Forecasting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0" name="Text 32"/>
            <p:cNvSpPr/>
            <p:nvPr/>
          </p:nvSpPr>
          <p:spPr>
            <a:xfrm>
              <a:off x="6149340" y="1563624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Per customer, product &amp; segment mix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1" name="Shape 33"/>
            <p:cNvSpPr/>
            <p:nvPr/>
          </p:nvSpPr>
          <p:spPr>
            <a:xfrm>
              <a:off x="2999232" y="1901952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2" name="Shape 34"/>
            <p:cNvSpPr/>
            <p:nvPr/>
          </p:nvSpPr>
          <p:spPr>
            <a:xfrm>
              <a:off x="2999232" y="1901952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4" name="Text 35"/>
            <p:cNvSpPr/>
            <p:nvPr/>
          </p:nvSpPr>
          <p:spPr>
            <a:xfrm>
              <a:off x="3063240" y="1947672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GenAI Knowledge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Platform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5" name="Text 36"/>
            <p:cNvSpPr/>
            <p:nvPr/>
          </p:nvSpPr>
          <p:spPr>
            <a:xfrm>
              <a:off x="3063240" y="2286000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Secure internal AI for operations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6" name="Shape 37"/>
            <p:cNvSpPr/>
            <p:nvPr/>
          </p:nvSpPr>
          <p:spPr>
            <a:xfrm>
              <a:off x="6085332" y="1901952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8" name="Shape 38"/>
            <p:cNvSpPr/>
            <p:nvPr/>
          </p:nvSpPr>
          <p:spPr>
            <a:xfrm>
              <a:off x="6085332" y="1901952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9" name="Text 39"/>
            <p:cNvSpPr/>
            <p:nvPr/>
          </p:nvSpPr>
          <p:spPr>
            <a:xfrm>
              <a:off x="6149340" y="1947672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Sovereign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Technology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7" name="Text 40"/>
            <p:cNvSpPr/>
            <p:nvPr/>
          </p:nvSpPr>
          <p:spPr>
            <a:xfrm>
              <a:off x="6149340" y="2286000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EU-based, open-source AI solutions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15" name="Shape 55"/>
          <p:cNvSpPr/>
          <p:nvPr/>
        </p:nvSpPr>
        <p:spPr>
          <a:xfrm>
            <a:off x="2999232" y="3781044"/>
            <a:ext cx="1910489" cy="960120"/>
          </a:xfrm>
          <a:prstGeom prst="roundRect">
            <a:avLst/>
          </a:prstGeom>
          <a:solidFill>
            <a:srgbClr val="EBF1FE"/>
          </a:solidFill>
          <a:ln w="12700">
            <a:solidFill>
              <a:srgbClr val="B8CA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Text 56"/>
          <p:cNvSpPr/>
          <p:nvPr/>
        </p:nvSpPr>
        <p:spPr>
          <a:xfrm>
            <a:off x="3060672" y="3826764"/>
            <a:ext cx="1805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98%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57"/>
          <p:cNvSpPr/>
          <p:nvPr/>
        </p:nvSpPr>
        <p:spPr>
          <a:xfrm>
            <a:off x="3060672" y="4128516"/>
            <a:ext cx="18051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cost reduction on Alliander's DELVI simulation pipeline after Polars migration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Shape 58"/>
          <p:cNvSpPr/>
          <p:nvPr/>
        </p:nvSpPr>
        <p:spPr>
          <a:xfrm>
            <a:off x="4962384" y="3781044"/>
            <a:ext cx="1910489" cy="960120"/>
          </a:xfrm>
          <a:prstGeom prst="roundRect">
            <a:avLst/>
          </a:prstGeom>
          <a:solidFill>
            <a:srgbClr val="EBF1FE"/>
          </a:solidFill>
          <a:ln w="12700">
            <a:solidFill>
              <a:srgbClr val="B8CA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Text 59"/>
          <p:cNvSpPr/>
          <p:nvPr/>
        </p:nvSpPr>
        <p:spPr>
          <a:xfrm>
            <a:off x="5023824" y="3826764"/>
            <a:ext cx="1805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7,500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Text 60"/>
          <p:cNvSpPr/>
          <p:nvPr/>
        </p:nvSpPr>
        <p:spPr>
          <a:xfrm>
            <a:off x="5023824" y="4128516"/>
            <a:ext cx="18051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Enexis employees adopted GenAI knowledge platform — 4,000+ hours saved annually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Shape 61"/>
          <p:cNvSpPr/>
          <p:nvPr/>
        </p:nvSpPr>
        <p:spPr>
          <a:xfrm>
            <a:off x="6925536" y="3781044"/>
            <a:ext cx="1910489" cy="960120"/>
          </a:xfrm>
          <a:prstGeom prst="roundRect">
            <a:avLst/>
          </a:prstGeom>
          <a:solidFill>
            <a:srgbClr val="EBF1FE"/>
          </a:solidFill>
          <a:ln w="12700">
            <a:solidFill>
              <a:srgbClr val="B8CA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Text 62"/>
          <p:cNvSpPr/>
          <p:nvPr/>
        </p:nvSpPr>
        <p:spPr>
          <a:xfrm>
            <a:off x="6986976" y="3826764"/>
            <a:ext cx="180516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80–90%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63"/>
          <p:cNvSpPr/>
          <p:nvPr/>
        </p:nvSpPr>
        <p:spPr>
          <a:xfrm>
            <a:off x="6986976" y="4128516"/>
            <a:ext cx="1805164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4B5563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accuracy in Enexis groundworks risk scoring — adopted by ~50% of field staff daily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4" name="Google Shape;914;p83" title="ALLIANDER.png">
            <a:extLst>
              <a:ext uri="{FF2B5EF4-FFF2-40B4-BE49-F238E27FC236}">
                <a16:creationId xmlns:a16="http://schemas.microsoft.com/office/drawing/2014/main" id="{03DEE230-BD87-832A-7F16-1A0A8AE4FF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12360" y="2899350"/>
            <a:ext cx="696165" cy="30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918;p83" title="DELTA.png">
            <a:extLst>
              <a:ext uri="{FF2B5EF4-FFF2-40B4-BE49-F238E27FC236}">
                <a16:creationId xmlns:a16="http://schemas.microsoft.com/office/drawing/2014/main" id="{43E5A4AE-A2E0-2B21-84B9-38C1593CF99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7717" y="2855976"/>
            <a:ext cx="696165" cy="30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922;p83" title="ICEMOBILE.png">
            <a:extLst>
              <a:ext uri="{FF2B5EF4-FFF2-40B4-BE49-F238E27FC236}">
                <a16:creationId xmlns:a16="http://schemas.microsoft.com/office/drawing/2014/main" id="{7576A109-B8C3-E391-B401-3CDD40C6A6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2234" y="3193646"/>
            <a:ext cx="696165" cy="29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929;p83" title="NS.png">
            <a:extLst>
              <a:ext uri="{FF2B5EF4-FFF2-40B4-BE49-F238E27FC236}">
                <a16:creationId xmlns:a16="http://schemas.microsoft.com/office/drawing/2014/main" id="{39B18A18-BF55-F1A0-0063-F4F395E30B8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3556" y="3171293"/>
            <a:ext cx="696165" cy="30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939;p83" title="VODAFONE ZIGGO.png">
            <a:extLst>
              <a:ext uri="{FF2B5EF4-FFF2-40B4-BE49-F238E27FC236}">
                <a16:creationId xmlns:a16="http://schemas.microsoft.com/office/drawing/2014/main" id="{3E7ABD81-9E9C-730A-EA7D-08B405FC810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61457" y="3179708"/>
            <a:ext cx="696165" cy="30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944;p83" title="PRORAIL.png">
            <a:extLst>
              <a:ext uri="{FF2B5EF4-FFF2-40B4-BE49-F238E27FC236}">
                <a16:creationId xmlns:a16="http://schemas.microsoft.com/office/drawing/2014/main" id="{265FDFA4-722F-5033-603E-6D06D36FB2CC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41596" y="3157386"/>
            <a:ext cx="693925" cy="303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946;p83" title="Stedin.png">
            <a:extLst>
              <a:ext uri="{FF2B5EF4-FFF2-40B4-BE49-F238E27FC236}">
                <a16:creationId xmlns:a16="http://schemas.microsoft.com/office/drawing/2014/main" id="{B86BDA41-4272-172C-610A-C8289DB3B08B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70407" y="2875281"/>
            <a:ext cx="702760" cy="30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947;p83" title="Logo TenneT 1g.png">
            <a:extLst>
              <a:ext uri="{FF2B5EF4-FFF2-40B4-BE49-F238E27FC236}">
                <a16:creationId xmlns:a16="http://schemas.microsoft.com/office/drawing/2014/main" id="{61CD2A44-E82A-F8A6-6E0D-1672F083F745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41380" y="2961132"/>
            <a:ext cx="627399" cy="118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950;p83" title="Vandebron.png">
            <a:extLst>
              <a:ext uri="{FF2B5EF4-FFF2-40B4-BE49-F238E27FC236}">
                <a16:creationId xmlns:a16="http://schemas.microsoft.com/office/drawing/2014/main" id="{69449A70-D074-D911-1011-3DBB5B4A182A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12098" y="2879875"/>
            <a:ext cx="702760" cy="30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951;p83" title="EDSN.png">
            <a:extLst>
              <a:ext uri="{FF2B5EF4-FFF2-40B4-BE49-F238E27FC236}">
                <a16:creationId xmlns:a16="http://schemas.microsoft.com/office/drawing/2014/main" id="{1C4FD9B7-FAC7-72CF-5104-67F9F8CE66C4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60056" y="3152359"/>
            <a:ext cx="702760" cy="30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949;p83" title="Eneco.png">
            <a:extLst>
              <a:ext uri="{FF2B5EF4-FFF2-40B4-BE49-F238E27FC236}">
                <a16:creationId xmlns:a16="http://schemas.microsoft.com/office/drawing/2014/main" id="{5944A6C7-4375-CBF7-8295-A0990068A798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76741" y="2893549"/>
            <a:ext cx="702760" cy="30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Picture 2" descr="Enexis - MLC">
            <a:extLst>
              <a:ext uri="{FF2B5EF4-FFF2-40B4-BE49-F238E27FC236}">
                <a16:creationId xmlns:a16="http://schemas.microsoft.com/office/drawing/2014/main" id="{1170E736-991A-81E3-A7E0-43D6E5DD5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074" y="2893549"/>
            <a:ext cx="719117" cy="26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Shape 13">
            <a:extLst>
              <a:ext uri="{FF2B5EF4-FFF2-40B4-BE49-F238E27FC236}">
                <a16:creationId xmlns:a16="http://schemas.microsoft.com/office/drawing/2014/main" id="{00F662C9-9EB4-0261-73EC-4FA9D387B657}"/>
              </a:ext>
            </a:extLst>
          </p:cNvPr>
          <p:cNvSpPr/>
          <p:nvPr/>
        </p:nvSpPr>
        <p:spPr>
          <a:xfrm>
            <a:off x="294132" y="3715512"/>
            <a:ext cx="2340864" cy="137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2" name="Text 14">
            <a:extLst>
              <a:ext uri="{FF2B5EF4-FFF2-40B4-BE49-F238E27FC236}">
                <a16:creationId xmlns:a16="http://schemas.microsoft.com/office/drawing/2014/main" id="{42A67DB5-976B-DBCA-8E24-5F8C23BC6AA0}"/>
              </a:ext>
            </a:extLst>
          </p:cNvPr>
          <p:cNvSpPr/>
          <p:nvPr/>
        </p:nvSpPr>
        <p:spPr>
          <a:xfrm>
            <a:off x="201168" y="38069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chemeClr val="tx1">
                    <a:lumMod val="60000"/>
                    <a:lumOff val="40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TECHNOLOGY ECOSYSTEM</a:t>
            </a:r>
            <a:endParaRPr lang="en-US" sz="750" dirty="0">
              <a:solidFill>
                <a:schemeClr val="tx1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3" name="Text 15">
            <a:extLst>
              <a:ext uri="{FF2B5EF4-FFF2-40B4-BE49-F238E27FC236}">
                <a16:creationId xmlns:a16="http://schemas.microsoft.com/office/drawing/2014/main" id="{1EA87E8B-EAE6-0325-5E46-03771C93EDA0}"/>
              </a:ext>
            </a:extLst>
          </p:cNvPr>
          <p:cNvSpPr/>
          <p:nvPr/>
        </p:nvSpPr>
        <p:spPr>
          <a:xfrm>
            <a:off x="201168" y="4008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8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Azure  ·  Databricks  ·  Snowflake  ·  Polars  ·  Open Source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C3EB6F6-D906-30C3-BA22-BC202A6BB2C7}"/>
              </a:ext>
            </a:extLst>
          </p:cNvPr>
          <p:cNvSpPr/>
          <p:nvPr/>
        </p:nvSpPr>
        <p:spPr>
          <a:xfrm>
            <a:off x="201168" y="596409"/>
            <a:ext cx="2468880" cy="1739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We make AI work in…</a:t>
            </a:r>
            <a:endParaRPr lang="en-US" sz="8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460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8C7CF-E951-F61A-345B-975B41B2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8BBA5D23-421E-E567-FB2E-362F606C7294}"/>
              </a:ext>
            </a:extLst>
          </p:cNvPr>
          <p:cNvSpPr/>
          <p:nvPr/>
        </p:nvSpPr>
        <p:spPr>
          <a:xfrm>
            <a:off x="201168" y="1664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GB" sz="850" i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From forecast to checkout — AI across the full retail value chain</a:t>
            </a:r>
          </a:p>
        </p:txBody>
      </p:sp>
      <p:sp>
        <p:nvSpPr>
          <p:cNvPr id="75" name="Titel 74">
            <a:extLst>
              <a:ext uri="{FF2B5EF4-FFF2-40B4-BE49-F238E27FC236}">
                <a16:creationId xmlns:a16="http://schemas.microsoft.com/office/drawing/2014/main" id="{4006B7CA-7398-D3D8-8D96-4E0C7BAD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95545"/>
            <a:ext cx="2475231" cy="615553"/>
          </a:xfrm>
        </p:spPr>
        <p:txBody>
          <a:bodyPr/>
          <a:lstStyle/>
          <a:p>
            <a:pPr marL="0" indent="0"/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Consumer Products &amp; Retail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1F954B3-22DB-2666-117D-23FFAC700DB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/>
            <a:r>
              <a:rPr lang="en-GB" dirty="0"/>
              <a:t>03 | What we can do</a:t>
            </a:r>
          </a:p>
        </p:txBody>
      </p:sp>
      <p:sp>
        <p:nvSpPr>
          <p:cNvPr id="100" name="Tijdelijke aanduiding voor dianummer 99">
            <a:extLst>
              <a:ext uri="{FF2B5EF4-FFF2-40B4-BE49-F238E27FC236}">
                <a16:creationId xmlns:a16="http://schemas.microsoft.com/office/drawing/2014/main" id="{BC990F77-27C2-65E3-A10F-805728B736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C9BF9CF-DA5E-75D1-BBA8-112E91E93C66}"/>
              </a:ext>
            </a:extLst>
          </p:cNvPr>
          <p:cNvSpPr/>
          <p:nvPr/>
        </p:nvSpPr>
        <p:spPr>
          <a:xfrm>
            <a:off x="294132" y="2194560"/>
            <a:ext cx="2340864" cy="137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D2D3CFB-6ABF-3D3E-5119-5983C969C351}"/>
              </a:ext>
            </a:extLst>
          </p:cNvPr>
          <p:cNvSpPr/>
          <p:nvPr/>
        </p:nvSpPr>
        <p:spPr>
          <a:xfrm>
            <a:off x="201168" y="22860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SUB-SECTORS</a:t>
            </a:r>
            <a:endParaRPr lang="en-US" sz="7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75AA1B-1BA9-B36A-925D-B59D4A96D34B}"/>
              </a:ext>
            </a:extLst>
          </p:cNvPr>
          <p:cNvSpPr/>
          <p:nvPr/>
        </p:nvSpPr>
        <p:spPr>
          <a:xfrm>
            <a:off x="201168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Grocery &amp; FMCG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95BEC0E-C78E-F086-B244-05F48B0E6B5E}"/>
              </a:ext>
            </a:extLst>
          </p:cNvPr>
          <p:cNvSpPr/>
          <p:nvPr/>
        </p:nvSpPr>
        <p:spPr>
          <a:xfrm>
            <a:off x="201168" y="27066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E-commerce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F18E36F-5AB8-1B1D-A4E7-04AA20D38159}"/>
              </a:ext>
            </a:extLst>
          </p:cNvPr>
          <p:cNvSpPr/>
          <p:nvPr/>
        </p:nvSpPr>
        <p:spPr>
          <a:xfrm>
            <a:off x="201168" y="2926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Omnichannel Retail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450E285-9D49-A27F-8D04-0D91FE95C299}"/>
              </a:ext>
            </a:extLst>
          </p:cNvPr>
          <p:cNvSpPr/>
          <p:nvPr/>
        </p:nvSpPr>
        <p:spPr>
          <a:xfrm>
            <a:off x="2999232" y="164592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KEY OFFERINGS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2128531-A086-316D-2A63-C314500B4B2C}"/>
              </a:ext>
            </a:extLst>
          </p:cNvPr>
          <p:cNvSpPr/>
          <p:nvPr/>
        </p:nvSpPr>
        <p:spPr>
          <a:xfrm>
            <a:off x="2999232" y="365760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3DFDF23-C573-8E3E-422B-0581231FB9A7}"/>
              </a:ext>
            </a:extLst>
          </p:cNvPr>
          <p:cNvSpPr/>
          <p:nvPr/>
        </p:nvSpPr>
        <p:spPr>
          <a:xfrm>
            <a:off x="2999232" y="265480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WE WORK WITH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B31EC09-4DA4-FB65-A9D0-5FF0627F050F}"/>
              </a:ext>
            </a:extLst>
          </p:cNvPr>
          <p:cNvSpPr/>
          <p:nvPr/>
        </p:nvSpPr>
        <p:spPr>
          <a:xfrm>
            <a:off x="2999232" y="2837688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D2057B84-48CA-0A95-95F9-BBD7D0DE4B62}"/>
              </a:ext>
            </a:extLst>
          </p:cNvPr>
          <p:cNvSpPr/>
          <p:nvPr/>
        </p:nvSpPr>
        <p:spPr>
          <a:xfrm>
            <a:off x="2999232" y="3537790"/>
            <a:ext cx="6080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IMPACT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1B0B97A5-CCCF-DEDF-43DA-FA1F811A3482}"/>
              </a:ext>
            </a:extLst>
          </p:cNvPr>
          <p:cNvSpPr/>
          <p:nvPr/>
        </p:nvSpPr>
        <p:spPr>
          <a:xfrm>
            <a:off x="2999232" y="3703320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FD2AD48E-538A-C2C0-11B1-1C9554697088}"/>
              </a:ext>
            </a:extLst>
          </p:cNvPr>
          <p:cNvSpPr/>
          <p:nvPr/>
        </p:nvSpPr>
        <p:spPr>
          <a:xfrm>
            <a:off x="201168" y="31455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Hospitality &amp; Gaming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416F2B1A-6381-2A6E-6A26-46BA03824E9E}"/>
              </a:ext>
            </a:extLst>
          </p:cNvPr>
          <p:cNvGrpSpPr/>
          <p:nvPr/>
        </p:nvGrpSpPr>
        <p:grpSpPr>
          <a:xfrm>
            <a:off x="2999232" y="3779520"/>
            <a:ext cx="5836793" cy="960120"/>
            <a:chOff x="2999232" y="3712464"/>
            <a:chExt cx="6080760" cy="960120"/>
          </a:xfrm>
        </p:grpSpPr>
        <p:sp>
          <p:nvSpPr>
            <p:cNvPr id="32" name="Shape 58"/>
            <p:cNvSpPr/>
            <p:nvPr/>
          </p:nvSpPr>
          <p:spPr>
            <a:xfrm>
              <a:off x="2999232" y="3712464"/>
              <a:ext cx="1990344" cy="960120"/>
            </a:xfrm>
            <a:prstGeom prst="roundRect">
              <a:avLst/>
            </a:prstGeom>
            <a:solidFill>
              <a:srgbClr val="EBF1FE"/>
            </a:solidFill>
            <a:ln w="12700">
              <a:solidFill>
                <a:srgbClr val="B8CAF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Text 59"/>
            <p:cNvSpPr/>
            <p:nvPr/>
          </p:nvSpPr>
          <p:spPr>
            <a:xfrm>
              <a:off x="3063240" y="3758184"/>
              <a:ext cx="1880616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B43D4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88%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 60"/>
            <p:cNvSpPr/>
            <p:nvPr/>
          </p:nvSpPr>
          <p:spPr>
            <a:xfrm>
              <a:off x="3063240" y="4059936"/>
              <a:ext cx="1880616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reduction in data preparation time for HEMA's marketing analytics team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5" name="Shape 61"/>
            <p:cNvSpPr/>
            <p:nvPr/>
          </p:nvSpPr>
          <p:spPr>
            <a:xfrm>
              <a:off x="5044440" y="3712464"/>
              <a:ext cx="1990344" cy="960120"/>
            </a:xfrm>
            <a:prstGeom prst="roundRect">
              <a:avLst/>
            </a:prstGeom>
            <a:solidFill>
              <a:srgbClr val="EBF1FE"/>
            </a:solidFill>
            <a:ln w="12700">
              <a:solidFill>
                <a:srgbClr val="B8CAF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Text 62"/>
            <p:cNvSpPr/>
            <p:nvPr/>
          </p:nvSpPr>
          <p:spPr>
            <a:xfrm>
              <a:off x="5108448" y="3758184"/>
              <a:ext cx="1880616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B43D4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75%+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 63"/>
            <p:cNvSpPr/>
            <p:nvPr/>
          </p:nvSpPr>
          <p:spPr>
            <a:xfrm>
              <a:off x="5108448" y="4059936"/>
              <a:ext cx="1880616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fewer reports at Holland Casino, while overall BI platform usage increased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" name="Shape 64"/>
            <p:cNvSpPr/>
            <p:nvPr/>
          </p:nvSpPr>
          <p:spPr>
            <a:xfrm>
              <a:off x="7089648" y="3712464"/>
              <a:ext cx="1990344" cy="960120"/>
            </a:xfrm>
            <a:prstGeom prst="roundRect">
              <a:avLst/>
            </a:prstGeom>
            <a:solidFill>
              <a:srgbClr val="EBF1FE"/>
            </a:solidFill>
            <a:ln w="12700">
              <a:solidFill>
                <a:srgbClr val="B8CAFD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 65"/>
            <p:cNvSpPr/>
            <p:nvPr/>
          </p:nvSpPr>
          <p:spPr>
            <a:xfrm>
              <a:off x="7153656" y="3758184"/>
              <a:ext cx="1880616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B43D4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~50–60%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Text 66"/>
            <p:cNvSpPr/>
            <p:nvPr/>
          </p:nvSpPr>
          <p:spPr>
            <a:xfrm>
              <a:off x="7153656" y="4059936"/>
              <a:ext cx="1880616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reduction in cart/checkout discrepancies at IKEA after Germany pilot fix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1" name="Groep 40">
            <a:extLst>
              <a:ext uri="{FF2B5EF4-FFF2-40B4-BE49-F238E27FC236}">
                <a16:creationId xmlns:a16="http://schemas.microsoft.com/office/drawing/2014/main" id="{0D67EF86-4024-4CC7-231A-D157AC4FA253}"/>
              </a:ext>
            </a:extLst>
          </p:cNvPr>
          <p:cNvGrpSpPr/>
          <p:nvPr/>
        </p:nvGrpSpPr>
        <p:grpSpPr>
          <a:xfrm>
            <a:off x="2999232" y="457200"/>
            <a:ext cx="5836793" cy="2103120"/>
            <a:chOff x="2999232" y="457200"/>
            <a:chExt cx="6080760" cy="2103120"/>
          </a:xfrm>
        </p:grpSpPr>
        <p:sp>
          <p:nvSpPr>
            <p:cNvPr id="42" name="Shape 18"/>
            <p:cNvSpPr/>
            <p:nvPr/>
          </p:nvSpPr>
          <p:spPr>
            <a:xfrm>
              <a:off x="2999232" y="457200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Shape 19"/>
            <p:cNvSpPr/>
            <p:nvPr/>
          </p:nvSpPr>
          <p:spPr>
            <a:xfrm>
              <a:off x="2999232" y="457200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" name="Text 20"/>
            <p:cNvSpPr/>
            <p:nvPr/>
          </p:nvSpPr>
          <p:spPr>
            <a:xfrm>
              <a:off x="3063240" y="502920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Demand Forecasting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7" name="Text 21"/>
            <p:cNvSpPr/>
            <p:nvPr/>
          </p:nvSpPr>
          <p:spPr>
            <a:xfrm>
              <a:off x="3063240" y="841248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SKU- and store-level, replenishment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3" name="Shape 22"/>
            <p:cNvSpPr/>
            <p:nvPr/>
          </p:nvSpPr>
          <p:spPr>
            <a:xfrm>
              <a:off x="6085332" y="457200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7" name="Shape 23"/>
            <p:cNvSpPr/>
            <p:nvPr/>
          </p:nvSpPr>
          <p:spPr>
            <a:xfrm>
              <a:off x="6085332" y="457200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" name="Text 24"/>
            <p:cNvSpPr/>
            <p:nvPr/>
          </p:nvSpPr>
          <p:spPr>
            <a:xfrm>
              <a:off x="6149340" y="502920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Dynamic Pricing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&amp; Promotions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" name="Text 25"/>
            <p:cNvSpPr/>
            <p:nvPr/>
          </p:nvSpPr>
          <p:spPr>
            <a:xfrm>
              <a:off x="6149340" y="841248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Margin &amp; volume optimization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2" name="Shape 26"/>
            <p:cNvSpPr/>
            <p:nvPr/>
          </p:nvSpPr>
          <p:spPr>
            <a:xfrm>
              <a:off x="2999232" y="1179576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" name="Shape 27"/>
            <p:cNvSpPr/>
            <p:nvPr/>
          </p:nvSpPr>
          <p:spPr>
            <a:xfrm>
              <a:off x="2999232" y="1179576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4" name="Text 28"/>
            <p:cNvSpPr/>
            <p:nvPr/>
          </p:nvSpPr>
          <p:spPr>
            <a:xfrm>
              <a:off x="3063240" y="1225296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Personalised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Recommendations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" name="Text 29"/>
            <p:cNvSpPr/>
            <p:nvPr/>
          </p:nvSpPr>
          <p:spPr>
            <a:xfrm>
              <a:off x="3063240" y="1563624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Search, browse, email, in-store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6" name="Shape 30"/>
            <p:cNvSpPr/>
            <p:nvPr/>
          </p:nvSpPr>
          <p:spPr>
            <a:xfrm>
              <a:off x="6085332" y="1179576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8" name="Shape 31"/>
            <p:cNvSpPr/>
            <p:nvPr/>
          </p:nvSpPr>
          <p:spPr>
            <a:xfrm>
              <a:off x="6085332" y="1179576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9" name="Text 32"/>
            <p:cNvSpPr/>
            <p:nvPr/>
          </p:nvSpPr>
          <p:spPr>
            <a:xfrm>
              <a:off x="6149340" y="1225296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Customer Service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GenAI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1" name="Text 33"/>
            <p:cNvSpPr/>
            <p:nvPr/>
          </p:nvSpPr>
          <p:spPr>
            <a:xfrm>
              <a:off x="6149340" y="1563624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RAG + agent assist, omnichannel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2" name="Shape 34"/>
            <p:cNvSpPr/>
            <p:nvPr/>
          </p:nvSpPr>
          <p:spPr>
            <a:xfrm>
              <a:off x="2999232" y="1901952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3" name="Shape 35"/>
            <p:cNvSpPr/>
            <p:nvPr/>
          </p:nvSpPr>
          <p:spPr>
            <a:xfrm>
              <a:off x="2999232" y="1901952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4" name="Text 36"/>
            <p:cNvSpPr/>
            <p:nvPr/>
          </p:nvSpPr>
          <p:spPr>
            <a:xfrm>
              <a:off x="3063240" y="1947672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Inventory &amp; Stock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Optimisation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5" name="Text 37"/>
            <p:cNvSpPr/>
            <p:nvPr/>
          </p:nvSpPr>
          <p:spPr>
            <a:xfrm>
              <a:off x="3063240" y="2286000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Cut shortage and overstock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6" name="Shape 38"/>
            <p:cNvSpPr/>
            <p:nvPr/>
          </p:nvSpPr>
          <p:spPr>
            <a:xfrm>
              <a:off x="6085332" y="1901952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7" name="Shape 39"/>
            <p:cNvSpPr/>
            <p:nvPr/>
          </p:nvSpPr>
          <p:spPr>
            <a:xfrm>
              <a:off x="6085332" y="1901952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8" name="Text 40"/>
            <p:cNvSpPr/>
            <p:nvPr/>
          </p:nvSpPr>
          <p:spPr>
            <a:xfrm>
              <a:off x="6149340" y="1947672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Marketing Mix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&amp; Attribution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9" name="Text 41"/>
            <p:cNvSpPr/>
            <p:nvPr/>
          </p:nvSpPr>
          <p:spPr>
            <a:xfrm>
              <a:off x="6149340" y="2286000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Causal models, incremental ROI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112" name="Google Shape;518;p41" title="Albert Heijn.png">
            <a:extLst>
              <a:ext uri="{FF2B5EF4-FFF2-40B4-BE49-F238E27FC236}">
                <a16:creationId xmlns:a16="http://schemas.microsoft.com/office/drawing/2014/main" id="{9D95EDE9-6BD3-D4EE-100C-44D6CBA638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65530" y="2949047"/>
            <a:ext cx="646012" cy="281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519;p41" title="bol..png">
            <a:extLst>
              <a:ext uri="{FF2B5EF4-FFF2-40B4-BE49-F238E27FC236}">
                <a16:creationId xmlns:a16="http://schemas.microsoft.com/office/drawing/2014/main" id="{49DEACBC-B45D-6ECE-E3B5-A0D1654A55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1962" y="2951255"/>
            <a:ext cx="646012" cy="27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520;p41" title="HEMA.png">
            <a:extLst>
              <a:ext uri="{FF2B5EF4-FFF2-40B4-BE49-F238E27FC236}">
                <a16:creationId xmlns:a16="http://schemas.microsoft.com/office/drawing/2014/main" id="{873E6D98-4F67-076D-1D4E-E9A95349738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4826" y="2951413"/>
            <a:ext cx="646012" cy="276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521;p41" title="ICEMOBILE.png">
            <a:extLst>
              <a:ext uri="{FF2B5EF4-FFF2-40B4-BE49-F238E27FC236}">
                <a16:creationId xmlns:a16="http://schemas.microsoft.com/office/drawing/2014/main" id="{A5720EEB-6DB4-2FBA-D94D-1F7566C7BBB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30943" y="3214666"/>
            <a:ext cx="646012" cy="27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522;p41" title="Ikea.png">
            <a:extLst>
              <a:ext uri="{FF2B5EF4-FFF2-40B4-BE49-F238E27FC236}">
                <a16:creationId xmlns:a16="http://schemas.microsoft.com/office/drawing/2014/main" id="{975E6927-95D8-7D12-1C8F-869BD9E2E27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8394" y="2951255"/>
            <a:ext cx="646012" cy="27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523;p41" title="THE JULY.png">
            <a:extLst>
              <a:ext uri="{FF2B5EF4-FFF2-40B4-BE49-F238E27FC236}">
                <a16:creationId xmlns:a16="http://schemas.microsoft.com/office/drawing/2014/main" id="{9BE36094-6E7A-B8FB-60FD-149A1F3B2A9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30172" y="3214666"/>
            <a:ext cx="646012" cy="27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524;p41" title="HC.png">
            <a:extLst>
              <a:ext uri="{FF2B5EF4-FFF2-40B4-BE49-F238E27FC236}">
                <a16:creationId xmlns:a16="http://schemas.microsoft.com/office/drawing/2014/main" id="{AE97850B-3D41-E7E2-D070-E41890A5FE69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87198" y="3248334"/>
            <a:ext cx="405254" cy="209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525;p41" title="Polaroid.png">
            <a:extLst>
              <a:ext uri="{FF2B5EF4-FFF2-40B4-BE49-F238E27FC236}">
                <a16:creationId xmlns:a16="http://schemas.microsoft.com/office/drawing/2014/main" id="{9BA62E54-FBA9-AEB0-906B-3D0B7A5BEC17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55732" y="3290257"/>
            <a:ext cx="652132" cy="125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526;p41" title="Clip path group.png">
            <a:extLst>
              <a:ext uri="{FF2B5EF4-FFF2-40B4-BE49-F238E27FC236}">
                <a16:creationId xmlns:a16="http://schemas.microsoft.com/office/drawing/2014/main" id="{716994EF-6AD9-F38D-9388-6132CCE35590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28036" y="3005885"/>
            <a:ext cx="489099" cy="16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Shape 13">
            <a:extLst>
              <a:ext uri="{FF2B5EF4-FFF2-40B4-BE49-F238E27FC236}">
                <a16:creationId xmlns:a16="http://schemas.microsoft.com/office/drawing/2014/main" id="{27080DF7-630E-D887-7DCD-7C5F2A939870}"/>
              </a:ext>
            </a:extLst>
          </p:cNvPr>
          <p:cNvSpPr/>
          <p:nvPr/>
        </p:nvSpPr>
        <p:spPr>
          <a:xfrm>
            <a:off x="294132" y="3715512"/>
            <a:ext cx="2340864" cy="137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4" name="Text 14">
            <a:extLst>
              <a:ext uri="{FF2B5EF4-FFF2-40B4-BE49-F238E27FC236}">
                <a16:creationId xmlns:a16="http://schemas.microsoft.com/office/drawing/2014/main" id="{F74017D9-9089-F403-A858-D826B70DCAA1}"/>
              </a:ext>
            </a:extLst>
          </p:cNvPr>
          <p:cNvSpPr/>
          <p:nvPr/>
        </p:nvSpPr>
        <p:spPr>
          <a:xfrm>
            <a:off x="201168" y="38069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chemeClr val="tx1">
                    <a:lumMod val="60000"/>
                    <a:lumOff val="40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TECHNOLOGY ECOSYSTEM</a:t>
            </a:r>
            <a:endParaRPr lang="en-US" sz="750" dirty="0">
              <a:solidFill>
                <a:schemeClr val="tx1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D80130F1-DAEE-334E-2FAB-440CD96DD096}"/>
              </a:ext>
            </a:extLst>
          </p:cNvPr>
          <p:cNvSpPr/>
          <p:nvPr/>
        </p:nvSpPr>
        <p:spPr>
          <a:xfrm>
            <a:off x="201168" y="4008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Azure / Fabric  ·  Databricks  ·  Google Cloud  ·  Snowflake  ·  Power BI</a:t>
            </a:r>
            <a:endParaRPr lang="en-US" sz="8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0004EADE-8D3A-875C-CDE3-3E2B136F6C12}"/>
              </a:ext>
            </a:extLst>
          </p:cNvPr>
          <p:cNvSpPr/>
          <p:nvPr/>
        </p:nvSpPr>
        <p:spPr>
          <a:xfrm>
            <a:off x="201168" y="596409"/>
            <a:ext cx="2468880" cy="1739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We make AI work in…</a:t>
            </a:r>
            <a:endParaRPr lang="en-US" sz="8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375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099CD-9E6E-4C05-DCB4-FF3B6E40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458B3519-9FAF-ECA1-234D-5FBE950F0FB4}"/>
              </a:ext>
            </a:extLst>
          </p:cNvPr>
          <p:cNvSpPr/>
          <p:nvPr/>
        </p:nvSpPr>
        <p:spPr>
          <a:xfrm>
            <a:off x="201168" y="16642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Data-driven operations across aviation, rail, road and logistics</a:t>
            </a:r>
            <a:endParaRPr lang="en-US" sz="8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itel 74">
            <a:extLst>
              <a:ext uri="{FF2B5EF4-FFF2-40B4-BE49-F238E27FC236}">
                <a16:creationId xmlns:a16="http://schemas.microsoft.com/office/drawing/2014/main" id="{EC87AFB5-7087-4C4F-1A88-7D4F5D1D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95545"/>
            <a:ext cx="2475231" cy="615553"/>
          </a:xfrm>
        </p:spPr>
        <p:txBody>
          <a:bodyPr/>
          <a:lstStyle/>
          <a:p>
            <a:pPr marL="0" indent="0"/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Transport</a:t>
            </a:r>
            <a:b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</a:b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&amp; Logistics</a:t>
            </a: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594CDD70-80A1-A6D8-2350-563B9842D3D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lvl="0" indent="0"/>
            <a:r>
              <a:rPr lang="en-GB" dirty="0"/>
              <a:t>03 | What we can do</a:t>
            </a:r>
          </a:p>
        </p:txBody>
      </p:sp>
      <p:sp>
        <p:nvSpPr>
          <p:cNvPr id="100" name="Tijdelijke aanduiding voor dianummer 99">
            <a:extLst>
              <a:ext uri="{FF2B5EF4-FFF2-40B4-BE49-F238E27FC236}">
                <a16:creationId xmlns:a16="http://schemas.microsoft.com/office/drawing/2014/main" id="{0C923B7D-6CFB-0724-DD72-21FBFD8B94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EB87F4B-A320-E45A-3B61-7A0E138EF670}"/>
              </a:ext>
            </a:extLst>
          </p:cNvPr>
          <p:cNvSpPr/>
          <p:nvPr/>
        </p:nvSpPr>
        <p:spPr>
          <a:xfrm>
            <a:off x="294132" y="2194560"/>
            <a:ext cx="2340864" cy="137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C4FE678-4F3B-F9D3-9C2E-9C6CC3B7D762}"/>
              </a:ext>
            </a:extLst>
          </p:cNvPr>
          <p:cNvSpPr/>
          <p:nvPr/>
        </p:nvSpPr>
        <p:spPr>
          <a:xfrm>
            <a:off x="201168" y="22860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SUB-SECTORS</a:t>
            </a:r>
            <a:endParaRPr lang="en-US" sz="7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88E4149-A1C0-EE36-67FA-01BDAC959903}"/>
              </a:ext>
            </a:extLst>
          </p:cNvPr>
          <p:cNvSpPr/>
          <p:nvPr/>
        </p:nvSpPr>
        <p:spPr>
          <a:xfrm>
            <a:off x="201168" y="24871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Aviation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DA6E9D0-62B9-99EA-B6BF-5FB19FAE25DB}"/>
              </a:ext>
            </a:extLst>
          </p:cNvPr>
          <p:cNvSpPr/>
          <p:nvPr/>
        </p:nvSpPr>
        <p:spPr>
          <a:xfrm>
            <a:off x="201168" y="27066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Rail Infrastructure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B5D1E32-F6AD-3586-138F-98077B514352}"/>
              </a:ext>
            </a:extLst>
          </p:cNvPr>
          <p:cNvSpPr/>
          <p:nvPr/>
        </p:nvSpPr>
        <p:spPr>
          <a:xfrm>
            <a:off x="201168" y="2926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Road Freight &amp; Fleet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6F40182-E659-D115-E1C4-B17624AC6C0B}"/>
              </a:ext>
            </a:extLst>
          </p:cNvPr>
          <p:cNvSpPr/>
          <p:nvPr/>
        </p:nvSpPr>
        <p:spPr>
          <a:xfrm>
            <a:off x="2999232" y="164592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KEY OFFERINGS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F709D4B-BC74-AAA4-A9E6-15865230AB8B}"/>
              </a:ext>
            </a:extLst>
          </p:cNvPr>
          <p:cNvSpPr/>
          <p:nvPr/>
        </p:nvSpPr>
        <p:spPr>
          <a:xfrm>
            <a:off x="2999232" y="365760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6D1D577-C73D-0A18-28DF-7442A48B70F6}"/>
              </a:ext>
            </a:extLst>
          </p:cNvPr>
          <p:cNvSpPr/>
          <p:nvPr/>
        </p:nvSpPr>
        <p:spPr>
          <a:xfrm>
            <a:off x="2999232" y="265480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WE WORK WITH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DFD3D2D-5970-BA36-4721-77B2A9CD7F1E}"/>
              </a:ext>
            </a:extLst>
          </p:cNvPr>
          <p:cNvSpPr/>
          <p:nvPr/>
        </p:nvSpPr>
        <p:spPr>
          <a:xfrm>
            <a:off x="2999232" y="2837688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DA3B9B2B-4E2C-CC43-755A-FA7FF5414E8F}"/>
              </a:ext>
            </a:extLst>
          </p:cNvPr>
          <p:cNvSpPr/>
          <p:nvPr/>
        </p:nvSpPr>
        <p:spPr>
          <a:xfrm>
            <a:off x="2999232" y="3537790"/>
            <a:ext cx="6080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B43D4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IMPACT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5E66409D-D410-E59E-BD37-A903CC2426E6}"/>
              </a:ext>
            </a:extLst>
          </p:cNvPr>
          <p:cNvSpPr/>
          <p:nvPr/>
        </p:nvSpPr>
        <p:spPr>
          <a:xfrm>
            <a:off x="2999232" y="3703320"/>
            <a:ext cx="457200" cy="36576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C356AC4B-9260-A880-8102-11D923DDD3F5}"/>
              </a:ext>
            </a:extLst>
          </p:cNvPr>
          <p:cNvSpPr/>
          <p:nvPr/>
        </p:nvSpPr>
        <p:spPr>
          <a:xfrm>
            <a:off x="201168" y="31455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▸  Logistics &amp; Warehousing</a:t>
            </a:r>
            <a:endParaRPr lang="en-US" sz="9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9" name="Groep 68">
            <a:extLst>
              <a:ext uri="{FF2B5EF4-FFF2-40B4-BE49-F238E27FC236}">
                <a16:creationId xmlns:a16="http://schemas.microsoft.com/office/drawing/2014/main" id="{A6438EB0-F746-FC37-50D2-54B402468887}"/>
              </a:ext>
            </a:extLst>
          </p:cNvPr>
          <p:cNvGrpSpPr/>
          <p:nvPr/>
        </p:nvGrpSpPr>
        <p:grpSpPr>
          <a:xfrm>
            <a:off x="2999232" y="457200"/>
            <a:ext cx="5836793" cy="2103120"/>
            <a:chOff x="2999232" y="457200"/>
            <a:chExt cx="6080760" cy="2103120"/>
          </a:xfrm>
        </p:grpSpPr>
        <p:sp>
          <p:nvSpPr>
            <p:cNvPr id="28" name="Shape 18"/>
            <p:cNvSpPr/>
            <p:nvPr/>
          </p:nvSpPr>
          <p:spPr>
            <a:xfrm>
              <a:off x="2999232" y="457200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Shape 19"/>
            <p:cNvSpPr/>
            <p:nvPr/>
          </p:nvSpPr>
          <p:spPr>
            <a:xfrm>
              <a:off x="2999232" y="457200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Text 20"/>
            <p:cNvSpPr/>
            <p:nvPr/>
          </p:nvSpPr>
          <p:spPr>
            <a:xfrm>
              <a:off x="3063240" y="502920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Predictive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Maintenance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Text 21"/>
            <p:cNvSpPr/>
            <p:nvPr/>
          </p:nvSpPr>
          <p:spPr>
            <a:xfrm>
              <a:off x="3063240" y="841248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Sensor-based failure prediction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" name="Shape 22"/>
            <p:cNvSpPr/>
            <p:nvPr/>
          </p:nvSpPr>
          <p:spPr>
            <a:xfrm>
              <a:off x="6085332" y="457200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0" name="Shape 23"/>
            <p:cNvSpPr/>
            <p:nvPr/>
          </p:nvSpPr>
          <p:spPr>
            <a:xfrm>
              <a:off x="6085332" y="457200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" name="Text 24"/>
            <p:cNvSpPr/>
            <p:nvPr/>
          </p:nvSpPr>
          <p:spPr>
            <a:xfrm>
              <a:off x="6149340" y="502920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Planning &amp;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Scheduling Optimisation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" name="Text 25"/>
            <p:cNvSpPr/>
            <p:nvPr/>
          </p:nvSpPr>
          <p:spPr>
            <a:xfrm>
              <a:off x="6149340" y="841248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Ground ops, fleet, resource allocation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6" name="Shape 26"/>
            <p:cNvSpPr/>
            <p:nvPr/>
          </p:nvSpPr>
          <p:spPr>
            <a:xfrm>
              <a:off x="2999232" y="1179576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0" name="Shape 27"/>
            <p:cNvSpPr/>
            <p:nvPr/>
          </p:nvSpPr>
          <p:spPr>
            <a:xfrm>
              <a:off x="2999232" y="1179576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" name="Text 28"/>
            <p:cNvSpPr/>
            <p:nvPr/>
          </p:nvSpPr>
          <p:spPr>
            <a:xfrm>
              <a:off x="3063240" y="1225296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Real-time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Operational Monitoring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" name="Text 29"/>
            <p:cNvSpPr/>
            <p:nvPr/>
          </p:nvSpPr>
          <p:spPr>
            <a:xfrm>
              <a:off x="3063240" y="1563624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Live dashboards and alerts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3" name="Shape 30"/>
            <p:cNvSpPr/>
            <p:nvPr/>
          </p:nvSpPr>
          <p:spPr>
            <a:xfrm>
              <a:off x="6085332" y="1179576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" name="Shape 31"/>
            <p:cNvSpPr/>
            <p:nvPr/>
          </p:nvSpPr>
          <p:spPr>
            <a:xfrm>
              <a:off x="6085332" y="1179576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" name="Text 32"/>
            <p:cNvSpPr/>
            <p:nvPr/>
          </p:nvSpPr>
          <p:spPr>
            <a:xfrm>
              <a:off x="6149340" y="1225296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IoT Data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Infrastructure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6" name="Text 33"/>
            <p:cNvSpPr/>
            <p:nvPr/>
          </p:nvSpPr>
          <p:spPr>
            <a:xfrm>
              <a:off x="6149340" y="1563624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Edge-to-cloud data pipelines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7" name="Shape 34"/>
            <p:cNvSpPr/>
            <p:nvPr/>
          </p:nvSpPr>
          <p:spPr>
            <a:xfrm>
              <a:off x="2999232" y="1901952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8" name="Shape 35"/>
            <p:cNvSpPr/>
            <p:nvPr/>
          </p:nvSpPr>
          <p:spPr>
            <a:xfrm>
              <a:off x="2999232" y="1901952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0" name="Text 36"/>
            <p:cNvSpPr/>
            <p:nvPr/>
          </p:nvSpPr>
          <p:spPr>
            <a:xfrm>
              <a:off x="3063240" y="1947672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Fleet Analytics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&amp; Reporting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1" name="Text 37"/>
            <p:cNvSpPr/>
            <p:nvPr/>
          </p:nvSpPr>
          <p:spPr>
            <a:xfrm>
              <a:off x="3063240" y="2286000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Self-service, governed, scalable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2" name="Shape 38"/>
            <p:cNvSpPr/>
            <p:nvPr/>
          </p:nvSpPr>
          <p:spPr>
            <a:xfrm>
              <a:off x="6085332" y="1901952"/>
              <a:ext cx="2994660" cy="658368"/>
            </a:xfrm>
            <a:prstGeom prst="rect">
              <a:avLst/>
            </a:prstGeom>
            <a:solidFill>
              <a:srgbClr val="EEF1FD"/>
            </a:solidFill>
            <a:ln w="12700">
              <a:solidFill>
                <a:srgbClr val="D4DCF5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3" name="Shape 39"/>
            <p:cNvSpPr/>
            <p:nvPr/>
          </p:nvSpPr>
          <p:spPr>
            <a:xfrm>
              <a:off x="6085332" y="1901952"/>
              <a:ext cx="32004" cy="658368"/>
            </a:xfrm>
            <a:prstGeom prst="rect">
              <a:avLst/>
            </a:prstGeom>
            <a:solidFill>
              <a:srgbClr val="1B43D4"/>
            </a:solidFill>
            <a:ln/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4" name="Text 40"/>
            <p:cNvSpPr/>
            <p:nvPr/>
          </p:nvSpPr>
          <p:spPr>
            <a:xfrm>
              <a:off x="6149340" y="1947672"/>
              <a:ext cx="2903220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Capacity &amp;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0" indent="0" algn="l">
                <a:buNone/>
              </a:pPr>
              <a:r>
                <a:rPr lang="en-US" sz="950" b="1" dirty="0">
                  <a:solidFill>
                    <a:srgbClr val="111827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Delay Forecasting</a:t>
              </a:r>
              <a:endParaRPr lang="en-US" sz="9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6" name="Text 41"/>
            <p:cNvSpPr/>
            <p:nvPr/>
          </p:nvSpPr>
          <p:spPr>
            <a:xfrm>
              <a:off x="6149340" y="2286000"/>
              <a:ext cx="2903220" cy="2377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i="1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ML models for traffic &amp; runway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78" name="Groep 77">
            <a:extLst>
              <a:ext uri="{FF2B5EF4-FFF2-40B4-BE49-F238E27FC236}">
                <a16:creationId xmlns:a16="http://schemas.microsoft.com/office/drawing/2014/main" id="{CDEBA466-3505-5CC0-C1C0-7D64E5E1F1F7}"/>
              </a:ext>
            </a:extLst>
          </p:cNvPr>
          <p:cNvGrpSpPr/>
          <p:nvPr/>
        </p:nvGrpSpPr>
        <p:grpSpPr>
          <a:xfrm>
            <a:off x="2999232" y="3785616"/>
            <a:ext cx="5836793" cy="960120"/>
            <a:chOff x="2999232" y="3712464"/>
            <a:chExt cx="6080760" cy="960120"/>
          </a:xfrm>
        </p:grpSpPr>
        <p:sp>
          <p:nvSpPr>
            <p:cNvPr id="79" name="Shape 58"/>
            <p:cNvSpPr/>
            <p:nvPr/>
          </p:nvSpPr>
          <p:spPr>
            <a:xfrm>
              <a:off x="2999232" y="3712464"/>
              <a:ext cx="1990344" cy="960120"/>
            </a:xfrm>
            <a:prstGeom prst="roundRect">
              <a:avLst/>
            </a:prstGeom>
            <a:solidFill>
              <a:srgbClr val="EBF1FE"/>
            </a:solidFill>
            <a:ln w="12700">
              <a:solidFill>
                <a:srgbClr val="B8CAFD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0" name="Text 59"/>
            <p:cNvSpPr/>
            <p:nvPr/>
          </p:nvSpPr>
          <p:spPr>
            <a:xfrm>
              <a:off x="3063240" y="3758184"/>
              <a:ext cx="1880616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B43D4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37% / 46%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1" name="Text 60"/>
            <p:cNvSpPr/>
            <p:nvPr/>
          </p:nvSpPr>
          <p:spPr>
            <a:xfrm>
              <a:off x="3063240" y="4059936"/>
              <a:ext cx="1880616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fewer arrival deviations and major delays at LVNL Air Traffic Control Netherlands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2" name="Shape 61"/>
            <p:cNvSpPr/>
            <p:nvPr/>
          </p:nvSpPr>
          <p:spPr>
            <a:xfrm>
              <a:off x="5044440" y="3712464"/>
              <a:ext cx="1990344" cy="960120"/>
            </a:xfrm>
            <a:prstGeom prst="roundRect">
              <a:avLst/>
            </a:prstGeom>
            <a:solidFill>
              <a:srgbClr val="EBF1FE"/>
            </a:solidFill>
            <a:ln w="12700">
              <a:solidFill>
                <a:srgbClr val="B8CAFD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4" name="Text 62"/>
            <p:cNvSpPr/>
            <p:nvPr/>
          </p:nvSpPr>
          <p:spPr>
            <a:xfrm>
              <a:off x="5108448" y="3758184"/>
              <a:ext cx="1880616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B43D4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€2M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5" name="Text 63"/>
            <p:cNvSpPr/>
            <p:nvPr/>
          </p:nvSpPr>
          <p:spPr>
            <a:xfrm>
              <a:off x="5108448" y="4059936"/>
              <a:ext cx="1880616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in prevented unplanned downtime annually at Vanderlande via IoT predictive maintenance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6" name="Shape 64"/>
            <p:cNvSpPr/>
            <p:nvPr/>
          </p:nvSpPr>
          <p:spPr>
            <a:xfrm>
              <a:off x="7089648" y="3712464"/>
              <a:ext cx="1990344" cy="960120"/>
            </a:xfrm>
            <a:prstGeom prst="roundRect">
              <a:avLst/>
            </a:prstGeom>
            <a:solidFill>
              <a:srgbClr val="EBF1FE"/>
            </a:solidFill>
            <a:ln w="12700">
              <a:solidFill>
                <a:srgbClr val="B8CAFD"/>
              </a:solidFill>
              <a:prstDash val="solid"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8" name="Text 65"/>
            <p:cNvSpPr/>
            <p:nvPr/>
          </p:nvSpPr>
          <p:spPr>
            <a:xfrm>
              <a:off x="7153656" y="3758184"/>
              <a:ext cx="1880616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B43D4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Real-time</a:t>
              </a:r>
              <a:endParaRPr lang="en-US" sz="16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9" name="Text 66"/>
            <p:cNvSpPr/>
            <p:nvPr/>
          </p:nvSpPr>
          <p:spPr>
            <a:xfrm>
              <a:off x="7153656" y="4059936"/>
              <a:ext cx="1880616" cy="56692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750" dirty="0">
                  <a:solidFill>
                    <a:srgbClr val="4B5563"/>
                  </a:solidFill>
                  <a:latin typeface="Poppins" panose="00000500000000000000" pitchFamily="2" charset="0"/>
                  <a:ea typeface="Arial" pitchFamily="34" charset="-122"/>
                  <a:cs typeface="Poppins" panose="00000500000000000000" pitchFamily="2" charset="0"/>
                </a:rPr>
                <a:t>SSOT platform for DAF Used Trucks — automated pricing, AI-ready, pan-European</a:t>
              </a:r>
              <a:endParaRPr lang="en-US" sz="75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220" name="Google Shape;917;p83" title="DAF.png">
            <a:extLst>
              <a:ext uri="{FF2B5EF4-FFF2-40B4-BE49-F238E27FC236}">
                <a16:creationId xmlns:a16="http://schemas.microsoft.com/office/drawing/2014/main" id="{EFB89961-48C0-318C-675D-3B101F027E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0516" y="3179190"/>
            <a:ext cx="628276" cy="26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925;p83" title="KLM.png">
            <a:extLst>
              <a:ext uri="{FF2B5EF4-FFF2-40B4-BE49-F238E27FC236}">
                <a16:creationId xmlns:a16="http://schemas.microsoft.com/office/drawing/2014/main" id="{F1C362CB-4F8E-EE6F-8FA0-0BC6AF7429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6744" y="2897201"/>
            <a:ext cx="628276" cy="26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927;p83" title="LVNL.png">
            <a:extLst>
              <a:ext uri="{FF2B5EF4-FFF2-40B4-BE49-F238E27FC236}">
                <a16:creationId xmlns:a16="http://schemas.microsoft.com/office/drawing/2014/main" id="{97A36C25-2F45-E667-408A-F3993FB8446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59605" y="2895207"/>
            <a:ext cx="628276" cy="273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929;p83" title="NS.png">
            <a:extLst>
              <a:ext uri="{FF2B5EF4-FFF2-40B4-BE49-F238E27FC236}">
                <a16:creationId xmlns:a16="http://schemas.microsoft.com/office/drawing/2014/main" id="{EAFCEFE9-1123-9847-6FD0-5994A354A46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0820" y="2895207"/>
            <a:ext cx="628276" cy="273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932;p83" title="Schadegarant &amp; Glasgarant.png">
            <a:extLst>
              <a:ext uri="{FF2B5EF4-FFF2-40B4-BE49-F238E27FC236}">
                <a16:creationId xmlns:a16="http://schemas.microsoft.com/office/drawing/2014/main" id="{3C97679C-DE26-B192-2D60-1267A1DE30C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42310" y="3179190"/>
            <a:ext cx="628276" cy="26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935;p83" title="TIP.png">
            <a:extLst>
              <a:ext uri="{FF2B5EF4-FFF2-40B4-BE49-F238E27FC236}">
                <a16:creationId xmlns:a16="http://schemas.microsoft.com/office/drawing/2014/main" id="{3E0F7D64-AA17-4EF2-92E6-46DB489BD9C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96066" y="3179190"/>
            <a:ext cx="628276" cy="26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938;p83" title="VANDERLANDE.png">
            <a:extLst>
              <a:ext uri="{FF2B5EF4-FFF2-40B4-BE49-F238E27FC236}">
                <a16:creationId xmlns:a16="http://schemas.microsoft.com/office/drawing/2014/main" id="{F95848F0-7462-855E-4778-9C5D28C857A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19393" y="2897508"/>
            <a:ext cx="628276" cy="26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944;p83" title="PRORAIL.png">
            <a:extLst>
              <a:ext uri="{FF2B5EF4-FFF2-40B4-BE49-F238E27FC236}">
                <a16:creationId xmlns:a16="http://schemas.microsoft.com/office/drawing/2014/main" id="{FDB5C182-34BD-A225-A107-C28E6E7AABF7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83431" y="2895035"/>
            <a:ext cx="626255" cy="273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948;p83" title="Renewi.png">
            <a:extLst>
              <a:ext uri="{FF2B5EF4-FFF2-40B4-BE49-F238E27FC236}">
                <a16:creationId xmlns:a16="http://schemas.microsoft.com/office/drawing/2014/main" id="{5FC90570-32C1-F0AE-EDFD-277E8D4B2EBB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33942" y="3175692"/>
            <a:ext cx="634228" cy="276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Milence: Truck Charging Network | IDTechEx Research Article">
            <a:extLst>
              <a:ext uri="{FF2B5EF4-FFF2-40B4-BE49-F238E27FC236}">
                <a16:creationId xmlns:a16="http://schemas.microsoft.com/office/drawing/2014/main" id="{B333E6F1-F96D-25BA-053E-5CC2B988AF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94" b="29094"/>
          <a:stretch>
            <a:fillRect/>
          </a:stretch>
        </p:blipFill>
        <p:spPr bwMode="auto">
          <a:xfrm>
            <a:off x="6828988" y="3225523"/>
            <a:ext cx="676092" cy="17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9" name="Shape 13">
            <a:extLst>
              <a:ext uri="{FF2B5EF4-FFF2-40B4-BE49-F238E27FC236}">
                <a16:creationId xmlns:a16="http://schemas.microsoft.com/office/drawing/2014/main" id="{0AE15880-740A-E196-8FA8-530F723F184C}"/>
              </a:ext>
            </a:extLst>
          </p:cNvPr>
          <p:cNvSpPr/>
          <p:nvPr/>
        </p:nvSpPr>
        <p:spPr>
          <a:xfrm>
            <a:off x="294132" y="3715512"/>
            <a:ext cx="2340864" cy="1371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0" name="Text 14">
            <a:extLst>
              <a:ext uri="{FF2B5EF4-FFF2-40B4-BE49-F238E27FC236}">
                <a16:creationId xmlns:a16="http://schemas.microsoft.com/office/drawing/2014/main" id="{38D20220-A111-C7EB-0EAA-C89ACB51CAAF}"/>
              </a:ext>
            </a:extLst>
          </p:cNvPr>
          <p:cNvSpPr/>
          <p:nvPr/>
        </p:nvSpPr>
        <p:spPr>
          <a:xfrm>
            <a:off x="201168" y="38069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chemeClr val="tx1">
                    <a:lumMod val="60000"/>
                    <a:lumOff val="40000"/>
                  </a:schemeClr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TECHNOLOGY ECOSYSTEM</a:t>
            </a:r>
            <a:endParaRPr lang="en-US" sz="750" dirty="0">
              <a:solidFill>
                <a:schemeClr val="tx1">
                  <a:lumMod val="60000"/>
                  <a:lumOff val="4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1" name="Text 15">
            <a:extLst>
              <a:ext uri="{FF2B5EF4-FFF2-40B4-BE49-F238E27FC236}">
                <a16:creationId xmlns:a16="http://schemas.microsoft.com/office/drawing/2014/main" id="{5C24DBEE-E80A-14B1-FE88-F23B40DF45FA}"/>
              </a:ext>
            </a:extLst>
          </p:cNvPr>
          <p:cNvSpPr/>
          <p:nvPr/>
        </p:nvSpPr>
        <p:spPr>
          <a:xfrm>
            <a:off x="201168" y="4008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850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Azure  ·  Databricks  ·  AWS  ·  Kafka / Spark  ·  Power BI</a:t>
            </a: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2A944553-170A-375A-87F0-4CAB3A3DEF24}"/>
              </a:ext>
            </a:extLst>
          </p:cNvPr>
          <p:cNvSpPr/>
          <p:nvPr/>
        </p:nvSpPr>
        <p:spPr>
          <a:xfrm>
            <a:off x="201168" y="596409"/>
            <a:ext cx="2468880" cy="1739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chemeClr val="tx1"/>
                </a:solidFill>
                <a:latin typeface="Poppins" panose="00000500000000000000" pitchFamily="2" charset="0"/>
                <a:ea typeface="Arial" pitchFamily="34" charset="-122"/>
                <a:cs typeface="Poppins" panose="00000500000000000000" pitchFamily="2" charset="0"/>
              </a:rPr>
              <a:t>We make AI work in…</a:t>
            </a:r>
            <a:endParaRPr lang="en-US" sz="85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240029"/>
      </p:ext>
    </p:extLst>
  </p:cSld>
  <p:clrMapOvr>
    <a:masterClrMapping/>
  </p:clrMapOvr>
</p:sld>
</file>

<file path=ppt/theme/theme1.xml><?xml version="1.0" encoding="utf-8"?>
<a:theme xmlns:a="http://schemas.openxmlformats.org/drawingml/2006/main" name="Xomnia Slide Template">
  <a:themeElements>
    <a:clrScheme name="Simple Light">
      <a:dk1>
        <a:srgbClr val="1B43D4"/>
      </a:dk1>
      <a:lt1>
        <a:srgbClr val="E5EAF0"/>
      </a:lt1>
      <a:dk2>
        <a:srgbClr val="091F3D"/>
      </a:dk2>
      <a:lt2>
        <a:srgbClr val="FFFFFF"/>
      </a:lt2>
      <a:accent1>
        <a:srgbClr val="FCAC17"/>
      </a:accent1>
      <a:accent2>
        <a:srgbClr val="4868DC"/>
      </a:accent2>
      <a:accent3>
        <a:srgbClr val="333333"/>
      </a:accent3>
      <a:accent4>
        <a:srgbClr val="CDCDCD"/>
      </a:accent4>
      <a:accent5>
        <a:srgbClr val="9E9E9E"/>
      </a:accent5>
      <a:accent6>
        <a:srgbClr val="CDCDC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1410</Words>
  <Application>Microsoft Office PowerPoint</Application>
  <PresentationFormat>Diavoorstelling (16:9)</PresentationFormat>
  <Paragraphs>264</Paragraphs>
  <Slides>10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7" baseType="lpstr">
      <vt:lpstr>Courier New</vt:lpstr>
      <vt:lpstr>Calibri</vt:lpstr>
      <vt:lpstr>Poppins Medium</vt:lpstr>
      <vt:lpstr>Arial</vt:lpstr>
      <vt:lpstr>Poppins</vt:lpstr>
      <vt:lpstr>Noto Sans Symbols</vt:lpstr>
      <vt:lpstr>Xomnia Slide Template</vt:lpstr>
      <vt:lpstr>PowerPoint-presentatie</vt:lpstr>
      <vt:lpstr>PowerPoint-presentatie</vt:lpstr>
      <vt:lpstr>We make AI work</vt:lpstr>
      <vt:lpstr>PowerPoint-presentatie</vt:lpstr>
      <vt:lpstr>Our propositions and offerings</vt:lpstr>
      <vt:lpstr>PowerPoint-presentatie</vt:lpstr>
      <vt:lpstr>Financial Services</vt:lpstr>
      <vt:lpstr>Energy, Utilities &amp; Telco</vt:lpstr>
      <vt:lpstr>Consumer Products &amp; Retail</vt:lpstr>
      <vt:lpstr>Transport &amp; Logistics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Stephan Hartgers</cp:lastModifiedBy>
  <cp:revision>18</cp:revision>
  <dcterms:modified xsi:type="dcterms:W3CDTF">2026-05-27T22:41:59Z</dcterms:modified>
</cp:coreProperties>
</file>